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0" r:id="rId4"/>
    <p:sldId id="262" r:id="rId5"/>
    <p:sldId id="263" r:id="rId6"/>
    <p:sldId id="264" r:id="rId7"/>
    <p:sldId id="265" r:id="rId8"/>
    <p:sldId id="266" r:id="rId9"/>
    <p:sldId id="267" r:id="rId10"/>
    <p:sldId id="258" r:id="rId11"/>
    <p:sldId id="25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133D"/>
    <a:srgbClr val="421D5D"/>
    <a:srgbClr val="4E236F"/>
    <a:srgbClr val="8E2A90"/>
    <a:srgbClr val="17314D"/>
    <a:srgbClr val="920000"/>
    <a:srgbClr val="DA1616"/>
    <a:srgbClr val="C83728"/>
    <a:srgbClr val="2B59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60" autoAdjust="0"/>
    <p:restoredTop sz="94658"/>
  </p:normalViewPr>
  <p:slideViewPr>
    <p:cSldViewPr snapToGrid="0">
      <p:cViewPr>
        <p:scale>
          <a:sx n="135" d="100"/>
          <a:sy n="135" d="100"/>
        </p:scale>
        <p:origin x="376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2C5099-0BBB-0E4D-97DC-F013207E5024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EED97B-6CE9-6341-B85C-A7AC117F7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281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EED97B-6CE9-6341-B85C-A7AC117F7DF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820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EED97B-6CE9-6341-B85C-A7AC117F7DF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844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A704785-4860-56EC-5233-F1D84346C24B}"/>
              </a:ext>
            </a:extLst>
          </p:cNvPr>
          <p:cNvSpPr/>
          <p:nvPr userDrawn="1"/>
        </p:nvSpPr>
        <p:spPr>
          <a:xfrm>
            <a:off x="9525" y="6429105"/>
            <a:ext cx="2960017" cy="42062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B3D5FA-E529-4AF3-18F1-A82A76BFD389}"/>
              </a:ext>
            </a:extLst>
          </p:cNvPr>
          <p:cNvSpPr/>
          <p:nvPr userDrawn="1"/>
        </p:nvSpPr>
        <p:spPr>
          <a:xfrm>
            <a:off x="8461022" y="6426797"/>
            <a:ext cx="3721453" cy="420624"/>
          </a:xfrm>
          <a:prstGeom prst="rect">
            <a:avLst/>
          </a:prstGeom>
          <a:solidFill>
            <a:srgbClr val="DA16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88AD65D-91EA-A4CB-2478-A79BFC471D00}"/>
              </a:ext>
            </a:extLst>
          </p:cNvPr>
          <p:cNvCxnSpPr/>
          <p:nvPr userDrawn="1"/>
        </p:nvCxnSpPr>
        <p:spPr>
          <a:xfrm>
            <a:off x="8453163" y="6426797"/>
            <a:ext cx="0" cy="420624"/>
          </a:xfrm>
          <a:prstGeom prst="line">
            <a:avLst/>
          </a:prstGeom>
          <a:ln>
            <a:solidFill>
              <a:srgbClr val="92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4C65AED-BC36-B338-85AA-0C9A094710FE}"/>
              </a:ext>
            </a:extLst>
          </p:cNvPr>
          <p:cNvCxnSpPr>
            <a:cxnSpLocks/>
          </p:cNvCxnSpPr>
          <p:nvPr userDrawn="1"/>
        </p:nvCxnSpPr>
        <p:spPr>
          <a:xfrm>
            <a:off x="2959255" y="6419654"/>
            <a:ext cx="0" cy="43834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4828744-BB4B-D027-176C-FF8712BBFD34}"/>
              </a:ext>
            </a:extLst>
          </p:cNvPr>
          <p:cNvSpPr/>
          <p:nvPr userDrawn="1"/>
        </p:nvSpPr>
        <p:spPr>
          <a:xfrm>
            <a:off x="0" y="6419654"/>
            <a:ext cx="12192000" cy="438346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3200" b="1" dirty="0">
              <a:latin typeface="Montserrat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5AB0A3-1C2C-4E58-409E-EEFA8FADABDF}"/>
              </a:ext>
            </a:extLst>
          </p:cNvPr>
          <p:cNvSpPr txBox="1"/>
          <p:nvPr userDrawn="1"/>
        </p:nvSpPr>
        <p:spPr>
          <a:xfrm>
            <a:off x="2" y="6406728"/>
            <a:ext cx="2912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Matt Minev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C7E938-1770-0D3B-321C-125F7E6C0D45}"/>
              </a:ext>
            </a:extLst>
          </p:cNvPr>
          <p:cNvSpPr txBox="1"/>
          <p:nvPr userDrawn="1"/>
        </p:nvSpPr>
        <p:spPr>
          <a:xfrm>
            <a:off x="8724506" y="6410187"/>
            <a:ext cx="2093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Учи-БАН‘25</a:t>
            </a:r>
            <a:endParaRPr lang="en-US" sz="24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9CE3A6-8A22-E30F-0155-D45B43325813}"/>
              </a:ext>
            </a:extLst>
          </p:cNvPr>
          <p:cNvSpPr txBox="1"/>
          <p:nvPr userDrawn="1"/>
        </p:nvSpPr>
        <p:spPr>
          <a:xfrm>
            <a:off x="2979066" y="6413160"/>
            <a:ext cx="54623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Neural Network Engine</a:t>
            </a:r>
          </a:p>
        </p:txBody>
      </p:sp>
    </p:spTree>
    <p:extLst>
      <p:ext uri="{BB962C8B-B14F-4D97-AF65-F5344CB8AC3E}">
        <p14:creationId xmlns:p14="http://schemas.microsoft.com/office/powerpoint/2010/main" val="957117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FCF911-E2B5-9B9D-AC20-9F87874C1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DDAE4-F72F-6B47-F692-325FAC5A6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E6BDD-1736-C5B5-0C32-151FEDED82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774AEE-31DE-408D-A86C-C9765183083C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86F19-C730-353A-045E-E3B95C4B58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E111C-8424-3C34-1DF1-B06B44CA9A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F5370B-1853-4ABE-9A64-55D949A30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03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igh resolution abstract digital background with connected white dots and multicolor light effects on black background">
            <a:extLst>
              <a:ext uri="{FF2B5EF4-FFF2-40B4-BE49-F238E27FC236}">
                <a16:creationId xmlns:a16="http://schemas.microsoft.com/office/drawing/2014/main" id="{633454B9-9DDC-A31E-67C0-9A7CAA0644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68"/>
          <a:stretch/>
        </p:blipFill>
        <p:spPr bwMode="auto">
          <a:xfrm rot="3141372">
            <a:off x="7149636" y="1386647"/>
            <a:ext cx="4454198" cy="5243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E5BA300-E93D-C58E-AC23-891D00924C87}"/>
              </a:ext>
            </a:extLst>
          </p:cNvPr>
          <p:cNvSpPr/>
          <p:nvPr/>
        </p:nvSpPr>
        <p:spPr>
          <a:xfrm>
            <a:off x="217987" y="295882"/>
            <a:ext cx="11756026" cy="2052682"/>
          </a:xfrm>
          <a:prstGeom prst="roundRect">
            <a:avLst>
              <a:gd name="adj" fmla="val 12554"/>
            </a:avLst>
          </a:prstGeom>
          <a:gradFill>
            <a:gsLst>
              <a:gs pos="0">
                <a:srgbClr val="002060">
                  <a:alpha val="50000"/>
                </a:srgbClr>
              </a:gs>
              <a:gs pos="37000">
                <a:srgbClr val="421D5D">
                  <a:alpha val="50000"/>
                </a:srgbClr>
              </a:gs>
              <a:gs pos="100000">
                <a:srgbClr val="8E2A90">
                  <a:alpha val="50000"/>
                </a:srgbClr>
              </a:gs>
            </a:gsLst>
            <a:lin ang="5400000" scaled="1"/>
          </a:gradFill>
          <a:ln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800" b="1" dirty="0">
                <a:latin typeface="Montserrat" panose="00000500000000000000" pitchFamily="2" charset="0"/>
              </a:rPr>
              <a:t>	Neural Network Engine </a:t>
            </a:r>
          </a:p>
          <a:p>
            <a:pPr algn="ctr">
              <a:lnSpc>
                <a:spcPct val="150000"/>
              </a:lnSpc>
            </a:pPr>
            <a:r>
              <a:rPr lang="bg-BG" sz="2200" dirty="0">
                <a:latin typeface="Montserrat" panose="00000500000000000000" pitchFamily="2" charset="0"/>
              </a:rPr>
              <a:t>Цялостно Решение за Дълбоко Обучение с Автоматична Диференциация &amp;</a:t>
            </a:r>
            <a:r>
              <a:rPr lang="en-US" sz="2200" dirty="0">
                <a:latin typeface="Montserrat" panose="00000500000000000000" pitchFamily="2" charset="0"/>
              </a:rPr>
              <a:t> </a:t>
            </a:r>
            <a:r>
              <a:rPr lang="bg-BG" sz="2000" dirty="0">
                <a:latin typeface="Montserrat" panose="00000500000000000000" pitchFamily="2" charset="0"/>
              </a:rPr>
              <a:t>Изследователски софтуер за образование и експериментация с невронни мрежи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FBCFF1-C736-BDAD-872F-0212DDC8994B}"/>
              </a:ext>
            </a:extLst>
          </p:cNvPr>
          <p:cNvSpPr txBox="1"/>
          <p:nvPr/>
        </p:nvSpPr>
        <p:spPr>
          <a:xfrm>
            <a:off x="575257" y="2696355"/>
            <a:ext cx="641965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800" dirty="0">
                <a:solidFill>
                  <a:schemeClr val="bg1"/>
                </a:solidFill>
                <a:latin typeface="Montserrat" panose="00000500000000000000" pitchFamily="2" charset="0"/>
              </a:rPr>
              <a:t>Автор</a:t>
            </a: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: 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Matt Minev</a:t>
            </a:r>
          </a:p>
          <a:p>
            <a:pPr algn="ctr"/>
            <a:endParaRPr lang="en-US" sz="28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algn="ctr"/>
            <a:r>
              <a:rPr lang="bg-BG" sz="2800" dirty="0">
                <a:solidFill>
                  <a:schemeClr val="bg1"/>
                </a:solidFill>
                <a:latin typeface="Montserrat" panose="00000500000000000000" pitchFamily="2" charset="0"/>
              </a:rPr>
              <a:t>Ученическа Научна Сесия на </a:t>
            </a:r>
            <a:r>
              <a:rPr lang="bg-BG" sz="2800" dirty="0" err="1">
                <a:solidFill>
                  <a:schemeClr val="bg1"/>
                </a:solidFill>
                <a:latin typeface="Montserrat" panose="00000500000000000000" pitchFamily="2" charset="0"/>
              </a:rPr>
              <a:t>УчИ</a:t>
            </a:r>
            <a:r>
              <a:rPr lang="bg-BG" sz="2800" dirty="0">
                <a:solidFill>
                  <a:schemeClr val="bg1"/>
                </a:solidFill>
                <a:latin typeface="Montserrat" panose="00000500000000000000" pitchFamily="2" charset="0"/>
              </a:rPr>
              <a:t>-БАН, 2025</a:t>
            </a:r>
          </a:p>
          <a:p>
            <a:pPr algn="ctr"/>
            <a:endParaRPr lang="en-US" sz="28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algn="ctr"/>
            <a:r>
              <a:rPr lang="bg-BG" sz="2800" dirty="0">
                <a:solidFill>
                  <a:schemeClr val="bg1"/>
                </a:solidFill>
                <a:latin typeface="Montserrat" panose="00000500000000000000" pitchFamily="2" charset="0"/>
              </a:rPr>
              <a:t>София</a:t>
            </a:r>
            <a:r>
              <a:rPr lang="en-US" sz="2800" dirty="0">
                <a:solidFill>
                  <a:schemeClr val="bg1"/>
                </a:solidFill>
                <a:latin typeface="Montserrat" panose="00000500000000000000" pitchFamily="2" charset="0"/>
              </a:rPr>
              <a:t>, </a:t>
            </a:r>
            <a:r>
              <a:rPr lang="bg-BG" sz="2800" dirty="0">
                <a:solidFill>
                  <a:schemeClr val="bg1"/>
                </a:solidFill>
                <a:latin typeface="Montserrat" panose="00000500000000000000" pitchFamily="2" charset="0"/>
              </a:rPr>
              <a:t>България</a:t>
            </a:r>
            <a:endParaRPr lang="en-US" sz="28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7B4F7C7-718C-7FC2-2AE5-7C14D35BCF3E}"/>
              </a:ext>
            </a:extLst>
          </p:cNvPr>
          <p:cNvSpPr/>
          <p:nvPr/>
        </p:nvSpPr>
        <p:spPr>
          <a:xfrm>
            <a:off x="265928" y="4886660"/>
            <a:ext cx="1778002" cy="177800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0405F3-82AA-E364-4601-6E7FF92D8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766" y="5017879"/>
            <a:ext cx="1520937" cy="1515563"/>
          </a:xfrm>
          <a:prstGeom prst="rect">
            <a:avLst/>
          </a:prstGeom>
        </p:spPr>
      </p:pic>
      <p:pic>
        <p:nvPicPr>
          <p:cNvPr id="3" name="Picture 2" descr="A blue and green connected circles&#10;&#10;AI-generated content may be incorrect.">
            <a:extLst>
              <a:ext uri="{FF2B5EF4-FFF2-40B4-BE49-F238E27FC236}">
                <a16:creationId xmlns:a16="http://schemas.microsoft.com/office/drawing/2014/main" id="{350A63B3-F230-1E18-9A1E-4856F933AA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2983" y="384717"/>
            <a:ext cx="1243757" cy="93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760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09D9A37-374F-67FC-FDEC-3DDDF820919F}"/>
              </a:ext>
            </a:extLst>
          </p:cNvPr>
          <p:cNvSpPr txBox="1"/>
          <p:nvPr/>
        </p:nvSpPr>
        <p:spPr>
          <a:xfrm>
            <a:off x="91125" y="76732"/>
            <a:ext cx="40943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4000" b="1" dirty="0">
                <a:solidFill>
                  <a:schemeClr val="bg1"/>
                </a:solidFill>
                <a:latin typeface="Montserrat" panose="00000500000000000000" pitchFamily="2" charset="0"/>
              </a:rPr>
              <a:t>Въведени</a:t>
            </a:r>
            <a:r>
              <a:rPr lang="en-US" sz="4000" b="1" dirty="0">
                <a:solidFill>
                  <a:schemeClr val="bg1"/>
                </a:solidFill>
                <a:latin typeface="Montserrat" panose="00000500000000000000" pitchFamily="2" charset="0"/>
              </a:rPr>
              <a:t>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5262E1-1FED-569A-52E2-278BEB742BB6}"/>
              </a:ext>
            </a:extLst>
          </p:cNvPr>
          <p:cNvSpPr txBox="1"/>
          <p:nvPr/>
        </p:nvSpPr>
        <p:spPr>
          <a:xfrm>
            <a:off x="10671142" y="6404610"/>
            <a:ext cx="15208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1/10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AD93D46-35CB-6B89-DC53-0C391026E55D}"/>
              </a:ext>
            </a:extLst>
          </p:cNvPr>
          <p:cNvCxnSpPr/>
          <p:nvPr/>
        </p:nvCxnSpPr>
        <p:spPr>
          <a:xfrm>
            <a:off x="0" y="869783"/>
            <a:ext cx="12192000" cy="0"/>
          </a:xfrm>
          <a:prstGeom prst="line">
            <a:avLst/>
          </a:prstGeom>
          <a:ln w="31750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677CC59-5791-4946-78B0-CD2E082EB8FB}"/>
              </a:ext>
            </a:extLst>
          </p:cNvPr>
          <p:cNvSpPr txBox="1"/>
          <p:nvPr/>
        </p:nvSpPr>
        <p:spPr>
          <a:xfrm>
            <a:off x="212888" y="1343030"/>
            <a:ext cx="7425041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>
                <a:schemeClr val="bg1"/>
              </a:buClr>
              <a:buSzPct val="120000"/>
            </a:pPr>
            <a:r>
              <a:rPr lang="bg-BG" sz="2400" b="1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От</a:t>
            </a:r>
            <a:r>
              <a:rPr lang="en-US" sz="2400" b="1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bg-BG" sz="2400" b="1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прост</a:t>
            </a:r>
            <a:r>
              <a:rPr lang="en-US" sz="2400" b="1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 Script </a:t>
            </a:r>
            <a:r>
              <a:rPr lang="bg-BG" sz="2400" b="1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до</a:t>
            </a:r>
            <a:r>
              <a:rPr lang="en-US" sz="2400" b="1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bg-BG" sz="2400" b="1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цялостен</a:t>
            </a:r>
            <a:r>
              <a:rPr lang="en-US" sz="2400" b="1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 Engine</a:t>
            </a:r>
          </a:p>
          <a:p>
            <a:pPr algn="l">
              <a:buClr>
                <a:schemeClr val="bg1"/>
              </a:buClr>
              <a:buSzPct val="120000"/>
            </a:pPr>
            <a:endParaRPr lang="en-US" sz="1600" b="1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  <a:p>
            <a:pPr marL="554400" lvl="1" indent="-457200">
              <a:buClr>
                <a:schemeClr val="bg1"/>
              </a:buClr>
              <a:buSzPct val="120000"/>
              <a:buFont typeface="System Font Regular"/>
              <a:buChar char="→"/>
            </a:pPr>
            <a:r>
              <a:rPr lang="bg-BG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Започнах с автоматична диференциация и</a:t>
            </a:r>
            <a:r>
              <a:rPr lang="en-US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bg-BG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оптимизация</a:t>
            </a:r>
            <a:r>
              <a:rPr lang="en-US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bg-BG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за</a:t>
            </a:r>
            <a:r>
              <a:rPr lang="en-US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bg-BG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невронни мрежи</a:t>
            </a:r>
            <a:endParaRPr lang="en-US" sz="2400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  <a:p>
            <a:pPr marL="554400" lvl="1" indent="-457200">
              <a:buClr>
                <a:schemeClr val="bg1"/>
              </a:buClr>
              <a:buSzPct val="120000"/>
              <a:buFont typeface="System Font Regular"/>
              <a:buChar char="→"/>
            </a:pPr>
            <a:endParaRPr lang="en-US" sz="1400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  <a:p>
            <a:pPr marL="554400" lvl="1" indent="-457200">
              <a:buClr>
                <a:schemeClr val="bg1"/>
              </a:buClr>
              <a:buSzPct val="120000"/>
              <a:buFont typeface="System Font Regular"/>
              <a:buChar char="→"/>
            </a:pPr>
            <a:r>
              <a:rPr lang="bg-BG" sz="2400" dirty="0">
                <a:solidFill>
                  <a:schemeClr val="bg1"/>
                </a:solidFill>
                <a:latin typeface="Montserrat" panose="00000500000000000000" pitchFamily="2" charset="0"/>
              </a:rPr>
              <a:t>Няколко </a:t>
            </a:r>
            <a:r>
              <a:rPr lang="en-US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Python 	</a:t>
            </a:r>
            <a:r>
              <a:rPr lang="bg-BG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файла</a:t>
            </a:r>
            <a:r>
              <a:rPr lang="en-US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bg-BG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не бяха достатъчни за моите цели</a:t>
            </a:r>
            <a:endParaRPr lang="en-US" sz="2400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  <a:p>
            <a:pPr marL="554400" lvl="1" indent="-457200">
              <a:buClr>
                <a:schemeClr val="bg1"/>
              </a:buClr>
              <a:buSzPct val="120000"/>
              <a:buFont typeface="System Font Regular"/>
              <a:buChar char="→"/>
            </a:pPr>
            <a:endParaRPr lang="en-US" sz="1400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  <a:p>
            <a:pPr marL="554400" lvl="1" indent="-457200">
              <a:buClr>
                <a:schemeClr val="bg1"/>
              </a:buClr>
              <a:buSzPct val="120000"/>
              <a:buFont typeface="System Font Regular"/>
              <a:buChar char="→"/>
            </a:pPr>
            <a:r>
              <a:rPr lang="bg-BG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Създадох централизиран </a:t>
            </a:r>
            <a:r>
              <a:rPr lang="en-US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Engine </a:t>
            </a:r>
            <a:r>
              <a:rPr lang="bg-BG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вместо</a:t>
            </a:r>
            <a:r>
              <a:rPr lang="en-US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bg-BG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да копирам код между приложенията</a:t>
            </a:r>
            <a:endParaRPr lang="en-US" sz="1200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  <a:p>
            <a:pPr marL="554400" lvl="1" indent="-457200">
              <a:buClr>
                <a:schemeClr val="bg1"/>
              </a:buClr>
              <a:buSzPct val="120000"/>
              <a:buFont typeface="System Font Regular"/>
              <a:buChar char="→"/>
            </a:pPr>
            <a:endParaRPr lang="en-US" sz="1400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  <a:p>
            <a:pPr marL="554400" lvl="1" indent="-457200">
              <a:buClr>
                <a:schemeClr val="bg1"/>
              </a:buClr>
              <a:buSzPct val="120000"/>
              <a:buFont typeface="System Font Regular"/>
              <a:buChar char="→"/>
            </a:pPr>
            <a:r>
              <a:rPr lang="bg-BG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Цялостно решение, което стои в основата на всички демонстрации днес﻿</a:t>
            </a:r>
            <a:endParaRPr lang="en-US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11" name="Picture 10" descr="A white line drawing of a gear and file&#10;&#10;AI-generated content may be incorrect.">
            <a:extLst>
              <a:ext uri="{FF2B5EF4-FFF2-40B4-BE49-F238E27FC236}">
                <a16:creationId xmlns:a16="http://schemas.microsoft.com/office/drawing/2014/main" id="{00032CCC-0AC0-B772-01A5-98220242DB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51" b="11244"/>
          <a:stretch/>
        </p:blipFill>
        <p:spPr>
          <a:xfrm>
            <a:off x="7502951" y="1734532"/>
            <a:ext cx="4384249" cy="3393649"/>
          </a:xfrm>
          <a:prstGeom prst="rect">
            <a:avLst/>
          </a:prstGeom>
        </p:spPr>
      </p:pic>
      <p:pic>
        <p:nvPicPr>
          <p:cNvPr id="4" name="Picture 3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1DC72D33-B611-1806-E8DD-5F89A271C2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8366" y="2961287"/>
            <a:ext cx="355666" cy="355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853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CD4BE-4375-EA98-A820-8F814E76A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6FE8690-DEAD-364B-ABD5-DC5EBE34D108}"/>
              </a:ext>
            </a:extLst>
          </p:cNvPr>
          <p:cNvSpPr txBox="1"/>
          <p:nvPr/>
        </p:nvSpPr>
        <p:spPr>
          <a:xfrm>
            <a:off x="91124" y="76732"/>
            <a:ext cx="83081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4000" b="1" dirty="0">
                <a:solidFill>
                  <a:schemeClr val="bg1"/>
                </a:solidFill>
                <a:latin typeface="Montserrat" panose="00000500000000000000" pitchFamily="2" charset="0"/>
              </a:rPr>
              <a:t>Невронни мрежи накратко</a:t>
            </a:r>
            <a:endParaRPr lang="en-US" sz="40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833B75-AEC8-E145-9078-4612B6830F01}"/>
              </a:ext>
            </a:extLst>
          </p:cNvPr>
          <p:cNvSpPr txBox="1"/>
          <p:nvPr/>
        </p:nvSpPr>
        <p:spPr>
          <a:xfrm>
            <a:off x="10671142" y="6404610"/>
            <a:ext cx="15208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2/10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57050A3-BC78-58BC-A90B-D494BBBC8A92}"/>
              </a:ext>
            </a:extLst>
          </p:cNvPr>
          <p:cNvCxnSpPr/>
          <p:nvPr/>
        </p:nvCxnSpPr>
        <p:spPr>
          <a:xfrm>
            <a:off x="0" y="869783"/>
            <a:ext cx="12192000" cy="0"/>
          </a:xfrm>
          <a:prstGeom prst="line">
            <a:avLst/>
          </a:prstGeom>
          <a:ln w="31750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01E173E-DEB7-7076-DC04-7701CCC8DE22}"/>
              </a:ext>
            </a:extLst>
          </p:cNvPr>
          <p:cNvSpPr txBox="1"/>
          <p:nvPr/>
        </p:nvSpPr>
        <p:spPr>
          <a:xfrm>
            <a:off x="26577" y="1030752"/>
            <a:ext cx="12100876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Clr>
                <a:schemeClr val="bg1"/>
              </a:buClr>
              <a:buSzPct val="120000"/>
              <a:buFont typeface="System Font Regular"/>
              <a:buChar char="→"/>
            </a:pPr>
            <a:r>
              <a:rPr lang="en-US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bg-BG" sz="22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Математически неврони, организирани в слоеве, които преобразуват данни</a:t>
            </a:r>
            <a:endParaRPr lang="en-US" sz="2200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  <a:p>
            <a:pPr marL="342900" indent="-342900" algn="l">
              <a:buClr>
                <a:schemeClr val="bg1"/>
              </a:buClr>
              <a:buSzPct val="120000"/>
              <a:buFont typeface="System Font Regular"/>
              <a:buChar char="→"/>
            </a:pPr>
            <a:endParaRPr lang="en-US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  <a:p>
            <a:pPr marL="342900" indent="-342900" algn="l">
              <a:buClr>
                <a:schemeClr val="bg1"/>
              </a:buClr>
              <a:buSzPct val="120000"/>
              <a:buFont typeface="System Font Regular"/>
              <a:buChar char="→"/>
            </a:pPr>
            <a:r>
              <a:rPr lang="en-US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bg-BG" sz="22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Всеки слой научава все по-сложни закономерности и характеристики</a:t>
            </a:r>
            <a:endParaRPr lang="en-US" sz="2200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  <a:p>
            <a:pPr marL="342900" indent="-342900" algn="l">
              <a:buClr>
                <a:schemeClr val="bg1"/>
              </a:buClr>
              <a:buSzPct val="120000"/>
              <a:buFont typeface="System Font Regular"/>
              <a:buChar char="→"/>
            </a:pPr>
            <a:endParaRPr lang="en-US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  <a:p>
            <a:pPr marL="342900" indent="-342900" algn="l">
              <a:buClr>
                <a:schemeClr val="bg1"/>
              </a:buClr>
              <a:buSzPct val="120000"/>
              <a:buFont typeface="System Font Regular"/>
              <a:buChar char="→"/>
            </a:pPr>
            <a:r>
              <a:rPr lang="en-US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bg-BG" sz="22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Натрупани прости операции създават мощно разпознаване на модели</a:t>
            </a:r>
            <a:endParaRPr lang="en-US" sz="2200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  <a:p>
            <a:pPr marL="342900" indent="-342900" algn="l">
              <a:buClr>
                <a:schemeClr val="bg1"/>
              </a:buClr>
              <a:buSzPct val="120000"/>
              <a:buFont typeface="System Font Regular"/>
              <a:buChar char="→"/>
            </a:pPr>
            <a:endParaRPr lang="en-US" sz="1600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D831A639-D7EA-9D84-511E-18BD2884CC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5411" y="2887525"/>
            <a:ext cx="6978525" cy="31720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1238DD-6EF7-FAF4-C21A-B3F794C8A113}"/>
              </a:ext>
            </a:extLst>
          </p:cNvPr>
          <p:cNvSpPr txBox="1"/>
          <p:nvPr/>
        </p:nvSpPr>
        <p:spPr>
          <a:xfrm>
            <a:off x="26577" y="2958988"/>
            <a:ext cx="4978834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Clr>
                <a:schemeClr val="bg1"/>
              </a:buClr>
              <a:buSzPct val="120000"/>
              <a:buFont typeface="System Font Regular"/>
              <a:buChar char="→"/>
            </a:pPr>
            <a:r>
              <a:rPr lang="en-US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bg-BG" sz="22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Универсална апроксимация:</a:t>
            </a:r>
          </a:p>
          <a:p>
            <a:pPr algn="l">
              <a:buClr>
                <a:schemeClr val="bg1"/>
              </a:buClr>
              <a:buSzPct val="120000"/>
            </a:pPr>
            <a:r>
              <a:rPr lang="bg-BG" sz="22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      възможност да се</a:t>
            </a:r>
          </a:p>
          <a:p>
            <a:pPr algn="l">
              <a:buClr>
                <a:schemeClr val="bg1"/>
              </a:buClr>
              <a:buSzPct val="120000"/>
            </a:pPr>
            <a:r>
              <a:rPr lang="bg-BG" sz="22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      апроксимира всяка</a:t>
            </a:r>
          </a:p>
          <a:p>
            <a:pPr algn="l">
              <a:buClr>
                <a:schemeClr val="bg1"/>
              </a:buClr>
              <a:buSzPct val="120000"/>
            </a:pPr>
            <a:r>
              <a:rPr lang="bg-BG" sz="2200" dirty="0">
                <a:solidFill>
                  <a:schemeClr val="bg1"/>
                </a:solidFill>
                <a:latin typeface="Montserrat" panose="00000500000000000000" pitchFamily="2" charset="0"/>
              </a:rPr>
              <a:t>      </a:t>
            </a:r>
            <a:r>
              <a:rPr lang="bg-BG" sz="22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непрекъсната функция</a:t>
            </a:r>
            <a:endParaRPr lang="en-US" sz="2200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  <a:p>
            <a:pPr marL="342900" indent="-342900" algn="l">
              <a:buClr>
                <a:schemeClr val="bg1"/>
              </a:buClr>
              <a:buSzPct val="120000"/>
              <a:buFont typeface="System Font Regular"/>
              <a:buChar char="→"/>
            </a:pPr>
            <a:endParaRPr lang="en-US" sz="1600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  <a:p>
            <a:pPr marL="342900" indent="-342900" algn="l">
              <a:buClr>
                <a:schemeClr val="bg1"/>
              </a:buClr>
              <a:buSzPct val="120000"/>
              <a:buFont typeface="System Font Regular"/>
              <a:buChar char="→"/>
            </a:pPr>
            <a:r>
              <a:rPr lang="en-US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bg-BG" sz="22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Основата, която прави</a:t>
            </a:r>
          </a:p>
          <a:p>
            <a:pPr algn="l">
              <a:buClr>
                <a:schemeClr val="bg1"/>
              </a:buClr>
              <a:buSzPct val="120000"/>
            </a:pPr>
            <a:r>
              <a:rPr lang="bg-BG" sz="2200" dirty="0">
                <a:solidFill>
                  <a:schemeClr val="bg1"/>
                </a:solidFill>
                <a:latin typeface="Montserrat" panose="00000500000000000000" pitchFamily="2" charset="0"/>
              </a:rPr>
              <a:t>      </a:t>
            </a:r>
            <a:r>
              <a:rPr lang="bg-BG" sz="22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възможен съвременния</a:t>
            </a:r>
          </a:p>
          <a:p>
            <a:pPr algn="l">
              <a:buClr>
                <a:schemeClr val="bg1"/>
              </a:buClr>
              <a:buSzPct val="120000"/>
            </a:pPr>
            <a:r>
              <a:rPr lang="bg-BG" sz="2200" dirty="0">
                <a:solidFill>
                  <a:schemeClr val="bg1"/>
                </a:solidFill>
                <a:latin typeface="Montserrat" panose="00000500000000000000" pitchFamily="2" charset="0"/>
              </a:rPr>
              <a:t>      </a:t>
            </a:r>
            <a:r>
              <a:rPr lang="bg-BG" sz="22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изкуствен интелект</a:t>
            </a:r>
            <a:endParaRPr lang="en-US" sz="2200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BA5E73-B155-59A1-3980-B4873D159D49}"/>
              </a:ext>
            </a:extLst>
          </p:cNvPr>
          <p:cNvSpPr txBox="1"/>
          <p:nvPr/>
        </p:nvSpPr>
        <p:spPr>
          <a:xfrm>
            <a:off x="5064506" y="3267865"/>
            <a:ext cx="1736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solidFill>
                  <a:srgbClr val="00B0F0"/>
                </a:solidFill>
                <a:latin typeface="Montserrat Medium" pitchFamily="2" charset="77"/>
              </a:rPr>
              <a:t>Входен слой</a:t>
            </a:r>
            <a:endParaRPr lang="en-US" dirty="0">
              <a:solidFill>
                <a:srgbClr val="00B0F0"/>
              </a:solidFill>
              <a:latin typeface="Montserrat Medium" pitchFamily="2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155985-864B-AC25-A20F-2F0C1C3832FA}"/>
              </a:ext>
            </a:extLst>
          </p:cNvPr>
          <p:cNvSpPr txBox="1"/>
          <p:nvPr/>
        </p:nvSpPr>
        <p:spPr>
          <a:xfrm>
            <a:off x="7631498" y="3267865"/>
            <a:ext cx="1736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solidFill>
                  <a:schemeClr val="accent2"/>
                </a:solidFill>
                <a:latin typeface="Montserrat Medium" pitchFamily="2" charset="77"/>
              </a:rPr>
              <a:t>Скрит слой</a:t>
            </a:r>
            <a:endParaRPr lang="en-US" dirty="0">
              <a:solidFill>
                <a:schemeClr val="accent2"/>
              </a:solidFill>
              <a:latin typeface="Montserrat Medium" pitchFamily="2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ADD12A-1F1E-1C9B-DD41-B9BFA2649F9D}"/>
              </a:ext>
            </a:extLst>
          </p:cNvPr>
          <p:cNvSpPr txBox="1"/>
          <p:nvPr/>
        </p:nvSpPr>
        <p:spPr>
          <a:xfrm>
            <a:off x="9964131" y="3267865"/>
            <a:ext cx="1906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solidFill>
                  <a:schemeClr val="accent6"/>
                </a:solidFill>
                <a:latin typeface="Montserrat Medium" pitchFamily="2" charset="77"/>
              </a:rPr>
              <a:t>Изходен слой</a:t>
            </a:r>
            <a:endParaRPr lang="en-US" dirty="0">
              <a:solidFill>
                <a:schemeClr val="accent6"/>
              </a:solidFill>
              <a:latin typeface="Montserrat Medium" pitchFamily="2" charset="77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7186AA-E1E6-1EAC-F208-A1A3AE9610C0}"/>
              </a:ext>
            </a:extLst>
          </p:cNvPr>
          <p:cNvSpPr/>
          <p:nvPr/>
        </p:nvSpPr>
        <p:spPr>
          <a:xfrm>
            <a:off x="5332780" y="3031300"/>
            <a:ext cx="6560449" cy="3336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942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754BD-5FAA-2768-1653-B4492B5BB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71CC174-C2F7-58C8-97F4-06C2BF31062C}"/>
              </a:ext>
            </a:extLst>
          </p:cNvPr>
          <p:cNvSpPr txBox="1"/>
          <p:nvPr/>
        </p:nvSpPr>
        <p:spPr>
          <a:xfrm>
            <a:off x="91123" y="76732"/>
            <a:ext cx="112151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4000" b="1" dirty="0">
                <a:solidFill>
                  <a:schemeClr val="bg1"/>
                </a:solidFill>
                <a:latin typeface="Montserrat" panose="00000500000000000000" pitchFamily="2" charset="0"/>
              </a:rPr>
              <a:t>Какво е Автоматична Диференциация?</a:t>
            </a:r>
            <a:endParaRPr lang="en-US" sz="40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6F11CF-984C-65B2-AA82-35115619381D}"/>
              </a:ext>
            </a:extLst>
          </p:cNvPr>
          <p:cNvSpPr txBox="1"/>
          <p:nvPr/>
        </p:nvSpPr>
        <p:spPr>
          <a:xfrm>
            <a:off x="10671142" y="6404610"/>
            <a:ext cx="15208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3/10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50BB346-750E-7E07-B9D2-43112E3A984D}"/>
              </a:ext>
            </a:extLst>
          </p:cNvPr>
          <p:cNvCxnSpPr/>
          <p:nvPr/>
        </p:nvCxnSpPr>
        <p:spPr>
          <a:xfrm>
            <a:off x="0" y="869783"/>
            <a:ext cx="12192000" cy="0"/>
          </a:xfrm>
          <a:prstGeom prst="line">
            <a:avLst/>
          </a:prstGeom>
          <a:ln w="31750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83DF5C77-F217-F688-6FA8-F807C36DAC17}"/>
              </a:ext>
            </a:extLst>
          </p:cNvPr>
          <p:cNvGrpSpPr/>
          <p:nvPr/>
        </p:nvGrpSpPr>
        <p:grpSpPr>
          <a:xfrm>
            <a:off x="5867438" y="2879871"/>
            <a:ext cx="6168577" cy="3072885"/>
            <a:chOff x="5524108" y="2748612"/>
            <a:chExt cx="6503250" cy="3239603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C4AD9E99-4AD4-8DE0-E2F6-857F38F65F2D}"/>
                </a:ext>
              </a:extLst>
            </p:cNvPr>
            <p:cNvSpPr/>
            <p:nvPr/>
          </p:nvSpPr>
          <p:spPr>
            <a:xfrm>
              <a:off x="5524108" y="2748612"/>
              <a:ext cx="6503250" cy="3239603"/>
            </a:xfrm>
            <a:prstGeom prst="roundRect">
              <a:avLst>
                <a:gd name="adj" fmla="val 519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11" name="Object 10">
              <a:extLst>
                <a:ext uri="{FF2B5EF4-FFF2-40B4-BE49-F238E27FC236}">
                  <a16:creationId xmlns:a16="http://schemas.microsoft.com/office/drawing/2014/main" id="{A5B32E70-FAA0-3AAF-4F21-101CD5F2B86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2265935"/>
                </p:ext>
              </p:extLst>
            </p:nvPr>
          </p:nvGraphicFramePr>
          <p:xfrm>
            <a:off x="5571241" y="2796465"/>
            <a:ext cx="6407738" cy="3113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1709091" imgH="5688950" progId="">
                    <p:embed/>
                  </p:oleObj>
                </mc:Choice>
                <mc:Fallback>
                  <p:oleObj r:id="rId2" imgW="11709091" imgH="5688950" progId="">
                    <p:embed/>
                    <p:pic>
                      <p:nvPicPr>
                        <p:cNvPr id="11" name="Object 10">
                          <a:extLst>
                            <a:ext uri="{FF2B5EF4-FFF2-40B4-BE49-F238E27FC236}">
                              <a16:creationId xmlns:a16="http://schemas.microsoft.com/office/drawing/2014/main" id="{F1D0B40C-897C-1613-2FC8-49BA59B02FC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5571241" y="2796465"/>
                          <a:ext cx="6407738" cy="311352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89D4AC1-11D6-423C-A490-62BE70DF5FD8}"/>
              </a:ext>
            </a:extLst>
          </p:cNvPr>
          <p:cNvSpPr txBox="1"/>
          <p:nvPr/>
        </p:nvSpPr>
        <p:spPr>
          <a:xfrm>
            <a:off x="155985" y="1156424"/>
            <a:ext cx="11731215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bg1"/>
              </a:buClr>
              <a:buSzPct val="120000"/>
              <a:buFont typeface="System Font Regular"/>
              <a:buChar char="→"/>
            </a:pP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bg-BG" sz="2400" dirty="0">
                <a:solidFill>
                  <a:schemeClr val="bg1"/>
                </a:solidFill>
                <a:latin typeface="Montserrat" panose="00000500000000000000" pitchFamily="2" charset="0"/>
              </a:rPr>
              <a:t>Изчислява точно и ефективно градиентите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bg-BG" sz="2400" dirty="0">
                <a:solidFill>
                  <a:schemeClr val="bg1"/>
                </a:solidFill>
                <a:latin typeface="Montserrat" panose="00000500000000000000" pitchFamily="2" charset="0"/>
              </a:rPr>
              <a:t>по време на обучението</a:t>
            </a:r>
            <a:endParaRPr lang="en-US" sz="2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>
              <a:buClr>
                <a:schemeClr val="bg1"/>
              </a:buClr>
              <a:buSzPct val="120000"/>
            </a:pP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    </a:t>
            </a:r>
            <a:r>
              <a:rPr lang="bg-BG" sz="2400" dirty="0">
                <a:solidFill>
                  <a:schemeClr val="bg1"/>
                </a:solidFill>
                <a:latin typeface="Montserrat" panose="00000500000000000000" pitchFamily="2" charset="0"/>
              </a:rPr>
              <a:t>на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bg-BG" sz="2400" dirty="0">
                <a:solidFill>
                  <a:schemeClr val="bg1"/>
                </a:solidFill>
                <a:latin typeface="Montserrat" panose="00000500000000000000" pitchFamily="2" charset="0"/>
              </a:rPr>
              <a:t>невронни мрежи</a:t>
            </a:r>
            <a:endParaRPr lang="en-US" sz="2400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  <a:p>
            <a:pPr marL="342900" indent="-342900" algn="l">
              <a:buClr>
                <a:schemeClr val="bg1"/>
              </a:buClr>
              <a:buSzPct val="120000"/>
              <a:buFont typeface="System Font Regular"/>
              <a:buChar char="→"/>
            </a:pPr>
            <a:endParaRPr lang="en-US" sz="2400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  <a:p>
            <a:pPr marL="342900" indent="-342900">
              <a:buClr>
                <a:schemeClr val="bg1"/>
              </a:buClr>
              <a:buSzPct val="120000"/>
              <a:buFont typeface="System Font Regular"/>
              <a:buChar char="→"/>
            </a:pPr>
            <a:r>
              <a:rPr lang="en-US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bg-BG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Р</a:t>
            </a:r>
            <a:r>
              <a:rPr lang="bg-BG" sz="2400" dirty="0">
                <a:solidFill>
                  <a:schemeClr val="bg1"/>
                </a:solidFill>
                <a:latin typeface="Montserrat" panose="00000500000000000000" pitchFamily="2" charset="0"/>
              </a:rPr>
              <a:t>азбива сложните функции на елементарни операции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bg-BG" sz="2400" dirty="0">
                <a:solidFill>
                  <a:schemeClr val="bg1"/>
                </a:solidFill>
                <a:latin typeface="Montserrat" panose="00000500000000000000" pitchFamily="2" charset="0"/>
              </a:rPr>
              <a:t>с известни</a:t>
            </a:r>
            <a:endParaRPr lang="en-US" sz="2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>
              <a:buClr>
                <a:schemeClr val="bg1"/>
              </a:buClr>
              <a:buSzPct val="120000"/>
            </a:pP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    </a:t>
            </a:r>
            <a:r>
              <a:rPr lang="bg-BG" sz="2400" dirty="0">
                <a:solidFill>
                  <a:schemeClr val="bg1"/>
                </a:solidFill>
                <a:latin typeface="Montserrat" panose="00000500000000000000" pitchFamily="2" charset="0"/>
              </a:rPr>
              <a:t>производни</a:t>
            </a:r>
            <a:endParaRPr lang="en-US" sz="2400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  <a:p>
            <a:pPr marL="342900" indent="-342900" algn="l">
              <a:buClr>
                <a:schemeClr val="bg1"/>
              </a:buClr>
              <a:buSzPct val="120000"/>
              <a:buFont typeface="System Font Regular"/>
              <a:buChar char="→"/>
            </a:pPr>
            <a:endParaRPr lang="en-US" sz="1600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DC891C-25F2-FAFA-24C4-14FB77A78B3F}"/>
              </a:ext>
            </a:extLst>
          </p:cNvPr>
          <p:cNvSpPr txBox="1"/>
          <p:nvPr/>
        </p:nvSpPr>
        <p:spPr>
          <a:xfrm>
            <a:off x="155985" y="3295772"/>
            <a:ext cx="594001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bg1"/>
              </a:buClr>
              <a:buSzPct val="120000"/>
              <a:buFont typeface="System Font Regular"/>
              <a:buChar char="→"/>
            </a:pP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bg-BG" sz="2400" dirty="0">
                <a:solidFill>
                  <a:schemeClr val="bg1"/>
                </a:solidFill>
                <a:latin typeface="Montserrat" panose="00000500000000000000" pitchFamily="2" charset="0"/>
              </a:rPr>
              <a:t>Систематично прилага</a:t>
            </a:r>
            <a:endParaRPr lang="en-US" sz="2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>
              <a:buClr>
                <a:schemeClr val="bg1"/>
              </a:buClr>
              <a:buSzPct val="120000"/>
            </a:pP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    </a:t>
            </a:r>
            <a:r>
              <a:rPr lang="bg-BG" sz="2400" dirty="0">
                <a:solidFill>
                  <a:schemeClr val="bg1"/>
                </a:solidFill>
                <a:latin typeface="Montserrat" panose="00000500000000000000" pitchFamily="2" charset="0"/>
              </a:rPr>
              <a:t>верижното правило върху</a:t>
            </a:r>
            <a:endParaRPr lang="en-US" sz="2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>
              <a:buClr>
                <a:schemeClr val="bg1"/>
              </a:buClr>
              <a:buSzPct val="120000"/>
            </a:pP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    </a:t>
            </a:r>
            <a:r>
              <a:rPr lang="bg-BG" sz="2400" dirty="0">
                <a:solidFill>
                  <a:schemeClr val="bg1"/>
                </a:solidFill>
                <a:latin typeface="Montserrat" panose="00000500000000000000" pitchFamily="2" charset="0"/>
              </a:rPr>
              <a:t>параметрите на мрежата</a:t>
            </a:r>
            <a:endParaRPr lang="en-US" sz="2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342900" indent="-342900">
              <a:buClr>
                <a:schemeClr val="bg1"/>
              </a:buClr>
              <a:buSzPct val="120000"/>
              <a:buFont typeface="System Font Regular"/>
              <a:buChar char="→"/>
            </a:pPr>
            <a:endParaRPr lang="en-US" sz="2400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  <a:p>
            <a:pPr marL="342900" indent="-342900">
              <a:buClr>
                <a:schemeClr val="bg1"/>
              </a:buClr>
              <a:buSzPct val="120000"/>
              <a:buFont typeface="System Font Regular"/>
              <a:buChar char="→"/>
            </a:pPr>
            <a:r>
              <a:rPr lang="en-US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bg-BG" sz="2400" dirty="0">
                <a:solidFill>
                  <a:schemeClr val="bg1"/>
                </a:solidFill>
                <a:latin typeface="Montserrat" panose="00000500000000000000" pitchFamily="2" charset="0"/>
              </a:rPr>
              <a:t>Стандартният метод, който</a:t>
            </a:r>
            <a:endParaRPr lang="en-US" sz="2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>
              <a:buClr>
                <a:schemeClr val="bg1"/>
              </a:buClr>
              <a:buSzPct val="120000"/>
            </a:pP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   </a:t>
            </a:r>
            <a:r>
              <a:rPr lang="bg-BG" sz="24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bg-BG" sz="2300" dirty="0">
                <a:solidFill>
                  <a:schemeClr val="bg1"/>
                </a:solidFill>
                <a:latin typeface="Montserrat" panose="00000500000000000000" pitchFamily="2" charset="0"/>
              </a:rPr>
              <a:t>прави възможно</a:t>
            </a:r>
            <a:r>
              <a:rPr lang="en-US" sz="23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bg-BG" sz="2300" dirty="0">
                <a:solidFill>
                  <a:schemeClr val="bg1"/>
                </a:solidFill>
                <a:latin typeface="Montserrat" panose="00000500000000000000" pitchFamily="2" charset="0"/>
              </a:rPr>
              <a:t>съвременното</a:t>
            </a:r>
            <a:endParaRPr lang="en-US" sz="23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>
              <a:buClr>
                <a:schemeClr val="bg1"/>
              </a:buClr>
              <a:buSzPct val="120000"/>
            </a:pP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    </a:t>
            </a:r>
            <a:r>
              <a:rPr lang="bg-BG" sz="2200" dirty="0">
                <a:solidFill>
                  <a:schemeClr val="bg1"/>
                </a:solidFill>
                <a:latin typeface="Montserrat" panose="00000500000000000000" pitchFamily="2" charset="0"/>
              </a:rPr>
              <a:t>дълбоко обучение в голям мащаб</a:t>
            </a:r>
            <a:endParaRPr lang="en-US" sz="2200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367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C90A9-FFF1-44B3-E3FA-F7D604321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BD08F75-07A0-EE43-78FD-7B2DC8168CE1}"/>
              </a:ext>
            </a:extLst>
          </p:cNvPr>
          <p:cNvSpPr txBox="1"/>
          <p:nvPr/>
        </p:nvSpPr>
        <p:spPr>
          <a:xfrm>
            <a:off x="91124" y="76732"/>
            <a:ext cx="124738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4000" b="1" dirty="0">
                <a:solidFill>
                  <a:schemeClr val="bg1"/>
                </a:solidFill>
                <a:latin typeface="Montserrat" panose="00000500000000000000" pitchFamily="2" charset="0"/>
              </a:rPr>
              <a:t>Какво разработих </a:t>
            </a:r>
            <a:r>
              <a:rPr lang="en-US" sz="4000" b="1" dirty="0">
                <a:solidFill>
                  <a:schemeClr val="bg1"/>
                </a:solidFill>
                <a:latin typeface="Montserrat" panose="00000500000000000000" pitchFamily="2" charset="0"/>
              </a:rPr>
              <a:t>- </a:t>
            </a:r>
            <a:r>
              <a:rPr lang="bg-BG" sz="3850" b="1" dirty="0">
                <a:solidFill>
                  <a:schemeClr val="bg1"/>
                </a:solidFill>
                <a:latin typeface="Montserrat" panose="00000500000000000000" pitchFamily="2" charset="0"/>
              </a:rPr>
              <a:t>Преглед &amp; Архитектура</a:t>
            </a:r>
            <a:endParaRPr lang="en-US" sz="385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B5BE01-3F90-24B1-75AE-DE0C9E9F302C}"/>
              </a:ext>
            </a:extLst>
          </p:cNvPr>
          <p:cNvSpPr txBox="1"/>
          <p:nvPr/>
        </p:nvSpPr>
        <p:spPr>
          <a:xfrm>
            <a:off x="10671142" y="6404610"/>
            <a:ext cx="15208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4/10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47F4608-9DEE-A090-D52F-C3FD974EC539}"/>
              </a:ext>
            </a:extLst>
          </p:cNvPr>
          <p:cNvCxnSpPr/>
          <p:nvPr/>
        </p:nvCxnSpPr>
        <p:spPr>
          <a:xfrm>
            <a:off x="0" y="869783"/>
            <a:ext cx="12192000" cy="0"/>
          </a:xfrm>
          <a:prstGeom prst="line">
            <a:avLst/>
          </a:prstGeom>
          <a:ln w="31750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2B8C9B0B-BE5E-EE3E-E242-9B70DB441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-1388960" y="-1111016"/>
            <a:ext cx="14466332" cy="9080031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20530D5-31B6-B9CE-B4B8-DE8EF9472FE7}"/>
              </a:ext>
            </a:extLst>
          </p:cNvPr>
          <p:cNvSpPr/>
          <p:nvPr/>
        </p:nvSpPr>
        <p:spPr>
          <a:xfrm>
            <a:off x="163630" y="4449459"/>
            <a:ext cx="3748494" cy="1557616"/>
          </a:xfrm>
          <a:prstGeom prst="roundRect">
            <a:avLst>
              <a:gd name="adj" fmla="val 4962"/>
            </a:avLst>
          </a:prstGeom>
          <a:solidFill>
            <a:schemeClr val="bg1">
              <a:alpha val="25000"/>
            </a:schemeClr>
          </a:solidFill>
          <a:ln w="2540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 dirty="0">
                <a:effectLst/>
                <a:latin typeface="Montserrat" panose="00000500000000000000" pitchFamily="2" charset="0"/>
              </a:rPr>
              <a:t>9 </a:t>
            </a:r>
            <a:r>
              <a:rPr lang="bg-BG" sz="2400" b="1" i="0" dirty="0">
                <a:effectLst/>
                <a:latin typeface="Montserrat" panose="00000500000000000000" pitchFamily="2" charset="0"/>
              </a:rPr>
              <a:t>активационни</a:t>
            </a:r>
            <a:r>
              <a:rPr lang="en-US" sz="2400" b="1" i="0" dirty="0">
                <a:effectLst/>
                <a:latin typeface="Montserrat" panose="00000500000000000000" pitchFamily="2" charset="0"/>
              </a:rPr>
              <a:t> </a:t>
            </a:r>
            <a:r>
              <a:rPr lang="bg-BG" sz="2400" b="1" i="0" dirty="0">
                <a:effectLst/>
                <a:latin typeface="Montserrat" panose="00000500000000000000" pitchFamily="2" charset="0"/>
              </a:rPr>
              <a:t>функции</a:t>
            </a:r>
            <a:r>
              <a:rPr lang="en-US" b="0" i="0" dirty="0">
                <a:effectLst/>
                <a:latin typeface="Montserrat" panose="00000500000000000000" pitchFamily="2" charset="0"/>
              </a:rPr>
              <a:t> </a:t>
            </a:r>
          </a:p>
          <a:p>
            <a:pPr algn="ctr"/>
            <a:r>
              <a:rPr lang="bg-BG" dirty="0">
                <a:latin typeface="Montserrat" panose="00000500000000000000" pitchFamily="2" charset="0"/>
              </a:rPr>
              <a:t> </a:t>
            </a:r>
            <a:r>
              <a:rPr lang="bg-BG" sz="1700" dirty="0">
                <a:latin typeface="Montserrat" panose="00000500000000000000" pitchFamily="2" charset="0"/>
              </a:rPr>
              <a:t>от класически</a:t>
            </a:r>
            <a:r>
              <a:rPr lang="en-US" sz="1700" b="0" i="0" dirty="0">
                <a:effectLst/>
                <a:latin typeface="Montserrat" panose="00000500000000000000" pitchFamily="2" charset="0"/>
              </a:rPr>
              <a:t> (ReLU, Sigmoid) </a:t>
            </a:r>
            <a:r>
              <a:rPr lang="bg-BG" sz="1700" b="0" i="0" dirty="0">
                <a:effectLst/>
                <a:latin typeface="Montserrat" panose="00000500000000000000" pitchFamily="2" charset="0"/>
              </a:rPr>
              <a:t>до</a:t>
            </a:r>
            <a:r>
              <a:rPr lang="en-US" sz="1700" b="0" i="0" dirty="0">
                <a:effectLst/>
                <a:latin typeface="Montserrat" panose="00000500000000000000" pitchFamily="2" charset="0"/>
              </a:rPr>
              <a:t> </a:t>
            </a:r>
            <a:r>
              <a:rPr lang="bg-BG" sz="1700" b="0" i="0" dirty="0">
                <a:effectLst/>
                <a:latin typeface="Montserrat" panose="00000500000000000000" pitchFamily="2" charset="0"/>
              </a:rPr>
              <a:t>модерни</a:t>
            </a:r>
            <a:r>
              <a:rPr lang="en-US" sz="1700" b="0" i="0" dirty="0">
                <a:effectLst/>
                <a:latin typeface="Montserrat" panose="00000500000000000000" pitchFamily="2" charset="0"/>
              </a:rPr>
              <a:t> (Swish, GELU)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5629E3A-4542-0CD0-643E-775CA527BD21}"/>
              </a:ext>
            </a:extLst>
          </p:cNvPr>
          <p:cNvSpPr/>
          <p:nvPr/>
        </p:nvSpPr>
        <p:spPr>
          <a:xfrm>
            <a:off x="9299542" y="1707975"/>
            <a:ext cx="2132029" cy="738775"/>
          </a:xfrm>
          <a:prstGeom prst="roundRect">
            <a:avLst>
              <a:gd name="adj" fmla="val 4962"/>
            </a:avLst>
          </a:prstGeom>
          <a:solidFill>
            <a:schemeClr val="bg1">
              <a:alpha val="25000"/>
            </a:schemeClr>
          </a:solidFill>
          <a:ln w="2540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0" dirty="0">
                <a:effectLst/>
                <a:latin typeface="Montserrat" panose="00000500000000000000" pitchFamily="2" charset="0"/>
              </a:rPr>
              <a:t>SGD &amp; Adam</a:t>
            </a:r>
          </a:p>
          <a:p>
            <a:pPr algn="ctr"/>
            <a:r>
              <a:rPr lang="en-US" sz="2000" b="1" dirty="0">
                <a:latin typeface="Montserrat" panose="00000500000000000000" pitchFamily="2" charset="0"/>
              </a:rPr>
              <a:t>Optimizers</a:t>
            </a:r>
            <a:endParaRPr lang="en-US" sz="1600" b="0" i="0" dirty="0">
              <a:effectLst/>
              <a:latin typeface="Montserrat" panose="00000500000000000000" pitchFamily="2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D9A95B5-0E17-467F-1398-BD5E08D0D35D}"/>
              </a:ext>
            </a:extLst>
          </p:cNvPr>
          <p:cNvCxnSpPr>
            <a:cxnSpLocks/>
          </p:cNvCxnSpPr>
          <p:nvPr/>
        </p:nvCxnSpPr>
        <p:spPr>
          <a:xfrm>
            <a:off x="3912124" y="4685123"/>
            <a:ext cx="405352" cy="99924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9">
            <a:extLst>
              <a:ext uri="{FF2B5EF4-FFF2-40B4-BE49-F238E27FC236}">
                <a16:creationId xmlns:a16="http://schemas.microsoft.com/office/drawing/2014/main" id="{0597756B-5FD0-440D-5A3C-A179A59FC154}"/>
              </a:ext>
            </a:extLst>
          </p:cNvPr>
          <p:cNvSpPr/>
          <p:nvPr/>
        </p:nvSpPr>
        <p:spPr>
          <a:xfrm>
            <a:off x="339364" y="1071948"/>
            <a:ext cx="2586717" cy="1557611"/>
          </a:xfrm>
          <a:prstGeom prst="roundRect">
            <a:avLst>
              <a:gd name="adj" fmla="val 4962"/>
            </a:avLst>
          </a:prstGeom>
          <a:solidFill>
            <a:schemeClr val="bg1">
              <a:alpha val="25000"/>
            </a:schemeClr>
          </a:solidFill>
          <a:ln w="2540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b="1" dirty="0">
                <a:latin typeface="Montserrat" panose="00000500000000000000" pitchFamily="2" charset="0"/>
              </a:rPr>
              <a:t>Три цялостни приложения</a:t>
            </a:r>
            <a:r>
              <a:rPr lang="bg-BG" dirty="0">
                <a:latin typeface="Montserrat" panose="00000500000000000000" pitchFamily="2" charset="0"/>
              </a:rPr>
              <a:t>, демонстриращи възможностите му в реални условия</a:t>
            </a:r>
          </a:p>
        </p:txBody>
      </p:sp>
    </p:spTree>
    <p:extLst>
      <p:ext uri="{BB962C8B-B14F-4D97-AF65-F5344CB8AC3E}">
        <p14:creationId xmlns:p14="http://schemas.microsoft.com/office/powerpoint/2010/main" val="3170729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DBE5D-3866-4392-1B68-4871392CD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D10947D-7965-EFA0-6DEB-3E3DC45E7F0E}"/>
              </a:ext>
            </a:extLst>
          </p:cNvPr>
          <p:cNvSpPr/>
          <p:nvPr/>
        </p:nvSpPr>
        <p:spPr>
          <a:xfrm>
            <a:off x="7356489" y="1414724"/>
            <a:ext cx="4690965" cy="3615594"/>
          </a:xfrm>
          <a:prstGeom prst="roundRect">
            <a:avLst>
              <a:gd name="adj" fmla="val 51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92E2E1-A4EE-74F8-A22A-247B118C9DBE}"/>
              </a:ext>
            </a:extLst>
          </p:cNvPr>
          <p:cNvSpPr txBox="1"/>
          <p:nvPr/>
        </p:nvSpPr>
        <p:spPr>
          <a:xfrm>
            <a:off x="91124" y="76732"/>
            <a:ext cx="119563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4000" b="1" dirty="0">
                <a:solidFill>
                  <a:schemeClr val="bg1"/>
                </a:solidFill>
                <a:latin typeface="Montserrat" panose="00000500000000000000" pitchFamily="2" charset="0"/>
              </a:rPr>
              <a:t>Основни Резултати &amp; </a:t>
            </a:r>
            <a:r>
              <a:rPr lang="en-US" sz="4000" b="1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bg-BG" sz="4000" b="1" dirty="0">
                <a:solidFill>
                  <a:schemeClr val="bg1"/>
                </a:solidFill>
                <a:latin typeface="Montserrat" panose="00000500000000000000" pitchFamily="2" charset="0"/>
              </a:rPr>
              <a:t>Производителност</a:t>
            </a:r>
            <a:endParaRPr lang="en-US" sz="40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26B5CC-3190-ABF7-AA97-D249DEB00250}"/>
              </a:ext>
            </a:extLst>
          </p:cNvPr>
          <p:cNvSpPr txBox="1"/>
          <p:nvPr/>
        </p:nvSpPr>
        <p:spPr>
          <a:xfrm>
            <a:off x="10671142" y="6404610"/>
            <a:ext cx="15208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5/10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0F42331-4317-EC45-18C8-A974EB974989}"/>
              </a:ext>
            </a:extLst>
          </p:cNvPr>
          <p:cNvCxnSpPr/>
          <p:nvPr/>
        </p:nvCxnSpPr>
        <p:spPr>
          <a:xfrm>
            <a:off x="0" y="869783"/>
            <a:ext cx="12192000" cy="0"/>
          </a:xfrm>
          <a:prstGeom prst="line">
            <a:avLst/>
          </a:prstGeom>
          <a:ln w="31750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26995A6-1865-8C8B-EBA4-59546DC04F47}"/>
              </a:ext>
            </a:extLst>
          </p:cNvPr>
          <p:cNvSpPr txBox="1"/>
          <p:nvPr/>
        </p:nvSpPr>
        <p:spPr>
          <a:xfrm>
            <a:off x="-367646" y="1450683"/>
            <a:ext cx="772413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Clr>
                <a:schemeClr val="bg1"/>
              </a:buClr>
              <a:buSzPct val="120000"/>
              <a:buFont typeface="System Font Regular"/>
              <a:buChar char="→"/>
            </a:pPr>
            <a:r>
              <a:rPr lang="bg-BG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Разпознаване на </a:t>
            </a:r>
            <a:r>
              <a:rPr lang="bg-BG" sz="2400" dirty="0">
                <a:solidFill>
                  <a:schemeClr val="bg1"/>
                </a:solidFill>
                <a:latin typeface="Montserrat" panose="00000500000000000000" pitchFamily="2" charset="0"/>
              </a:rPr>
              <a:t>цифри</a:t>
            </a:r>
            <a:r>
              <a:rPr lang="en-US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: </a:t>
            </a:r>
            <a:r>
              <a:rPr lang="en-US" sz="2400" b="1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98.33% </a:t>
            </a:r>
            <a:endParaRPr lang="bg-BG" sz="2400" b="1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  <a:p>
            <a:pPr lvl="1">
              <a:buClr>
                <a:schemeClr val="bg1"/>
              </a:buClr>
              <a:buSzPct val="120000"/>
            </a:pPr>
            <a:r>
              <a:rPr lang="bg-BG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     </a:t>
            </a:r>
            <a:r>
              <a:rPr lang="bg-BG" sz="2400" b="1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точност</a:t>
            </a:r>
            <a:r>
              <a:rPr lang="en-US" sz="2400" b="1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(</a:t>
            </a:r>
            <a:r>
              <a:rPr lang="bg-BG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разширен</a:t>
            </a:r>
            <a:r>
              <a:rPr lang="bg-BG" sz="2400" dirty="0">
                <a:solidFill>
                  <a:schemeClr val="bg1"/>
                </a:solidFill>
                <a:latin typeface="Montserrat" panose="00000500000000000000" pitchFamily="2" charset="0"/>
              </a:rPr>
              <a:t> модел с 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EMNIST)</a:t>
            </a:r>
            <a:endParaRPr lang="en-US" sz="2400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  <a:p>
            <a:pPr marL="914400" lvl="1" indent="-457200">
              <a:buClr>
                <a:schemeClr val="bg1"/>
              </a:buClr>
              <a:buSzPct val="120000"/>
              <a:buFont typeface="System Font Regular"/>
              <a:buChar char="→"/>
            </a:pPr>
            <a:endParaRPr lang="en-US" sz="2400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  <a:p>
            <a:pPr marL="914400" lvl="1" indent="-457200">
              <a:buClr>
                <a:schemeClr val="bg1"/>
              </a:buClr>
              <a:buSzPct val="120000"/>
              <a:buFont typeface="System Font Regular"/>
              <a:buChar char="→"/>
            </a:pPr>
            <a:r>
              <a:rPr lang="bg-BG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Универсално разпознаване на символи</a:t>
            </a:r>
            <a:r>
              <a:rPr lang="en-US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: </a:t>
            </a:r>
            <a:r>
              <a:rPr lang="en-US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86.6%</a:t>
            </a:r>
            <a:r>
              <a:rPr lang="en-US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bg-BG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точност</a:t>
            </a:r>
            <a:r>
              <a:rPr lang="en-US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bg-BG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в </a:t>
            </a:r>
            <a:r>
              <a:rPr lang="en-US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62 </a:t>
            </a:r>
            <a:r>
              <a:rPr lang="bg-BG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класа</a:t>
            </a:r>
            <a:r>
              <a:rPr lang="en-US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n-US" sz="20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(</a:t>
            </a:r>
            <a:r>
              <a:rPr lang="bg-BG" sz="20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цифри</a:t>
            </a:r>
            <a:r>
              <a:rPr lang="en-US" sz="20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 + </a:t>
            </a:r>
            <a:r>
              <a:rPr lang="bg-BG" sz="20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букви</a:t>
            </a:r>
            <a:r>
              <a:rPr lang="en-US" sz="20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)</a:t>
            </a:r>
          </a:p>
          <a:p>
            <a:pPr marL="914400" lvl="1" indent="-457200">
              <a:buClr>
                <a:schemeClr val="bg1"/>
              </a:buClr>
              <a:buSzPct val="120000"/>
              <a:buFont typeface="System Font Regular"/>
              <a:buChar char="→"/>
            </a:pPr>
            <a:endParaRPr lang="en-US" sz="2400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  <a:p>
            <a:pPr marL="914400" lvl="1" indent="-457200">
              <a:buClr>
                <a:schemeClr val="bg1"/>
              </a:buClr>
              <a:buSzPct val="120000"/>
              <a:buFont typeface="System Font Regular"/>
              <a:buChar char="→"/>
            </a:pPr>
            <a:r>
              <a:rPr lang="bg-BG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Математическа иновация</a:t>
            </a:r>
            <a:r>
              <a:rPr lang="en-US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: </a:t>
            </a:r>
            <a:r>
              <a:rPr lang="bg-BG" sz="22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Невронни мрежи решаващи на квадратн</a:t>
            </a:r>
            <a:r>
              <a:rPr lang="bg-BG" sz="2200" dirty="0">
                <a:solidFill>
                  <a:schemeClr val="bg1"/>
                </a:solidFill>
                <a:latin typeface="Montserrat" panose="00000500000000000000" pitchFamily="2" charset="0"/>
              </a:rPr>
              <a:t>и уравнения</a:t>
            </a:r>
            <a:endParaRPr lang="en-US" sz="2200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  <a:p>
            <a:pPr marL="914400" lvl="1" indent="-457200">
              <a:buClr>
                <a:schemeClr val="bg1"/>
              </a:buClr>
              <a:buSzPct val="120000"/>
              <a:buFont typeface="System Font Regular"/>
              <a:buChar char="→"/>
            </a:pPr>
            <a:endParaRPr lang="en-US" sz="2400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  <a:p>
            <a:pPr marL="914400" lvl="1" indent="-457200">
              <a:buClr>
                <a:schemeClr val="bg1"/>
              </a:buClr>
              <a:buSzPct val="120000"/>
              <a:buFont typeface="System Font Regular"/>
              <a:buChar char="→"/>
            </a:pPr>
            <a:r>
              <a:rPr lang="bg-BG" sz="22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Производителност</a:t>
            </a:r>
            <a:r>
              <a:rPr lang="en-US" sz="22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: </a:t>
            </a:r>
            <a:r>
              <a:rPr lang="en-US" sz="2200" b="1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&gt;20,000 </a:t>
            </a:r>
            <a:r>
              <a:rPr lang="bg-BG" sz="2200" dirty="0">
                <a:solidFill>
                  <a:schemeClr val="bg1"/>
                </a:solidFill>
                <a:latin typeface="Montserrat" panose="00000500000000000000" pitchFamily="2" charset="0"/>
              </a:rPr>
              <a:t>примера</a:t>
            </a:r>
            <a:r>
              <a:rPr lang="en-US" sz="22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/</a:t>
            </a:r>
            <a:r>
              <a:rPr lang="bg-BG" sz="22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секунда</a:t>
            </a:r>
            <a:r>
              <a:rPr lang="en-US" sz="22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bg-BG" sz="22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със стандартен хардуер</a:t>
            </a:r>
            <a:endParaRPr lang="en-US" sz="22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12" name="Picture 11" descr="A comparison of blue and pink vertical bars&#10;&#10;AI-generated content may be incorrect.">
            <a:extLst>
              <a:ext uri="{FF2B5EF4-FFF2-40B4-BE49-F238E27FC236}">
                <a16:creationId xmlns:a16="http://schemas.microsoft.com/office/drawing/2014/main" id="{337485D9-5719-3822-2717-29D5FEECE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50000" b="1211"/>
          <a:stretch/>
        </p:blipFill>
        <p:spPr>
          <a:xfrm>
            <a:off x="7432458" y="1450683"/>
            <a:ext cx="4521007" cy="353505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6C18F03-7582-41DE-33F5-6EBC98B33587}"/>
              </a:ext>
            </a:extLst>
          </p:cNvPr>
          <p:cNvSpPr/>
          <p:nvPr/>
        </p:nvSpPr>
        <p:spPr>
          <a:xfrm>
            <a:off x="7356487" y="5191289"/>
            <a:ext cx="4690965" cy="738775"/>
          </a:xfrm>
          <a:prstGeom prst="roundRect">
            <a:avLst>
              <a:gd name="adj" fmla="val 4962"/>
            </a:avLst>
          </a:prstGeom>
          <a:solidFill>
            <a:schemeClr val="bg1">
              <a:alpha val="25000"/>
            </a:schemeClr>
          </a:solidFill>
          <a:ln w="2540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b="1" dirty="0">
                <a:latin typeface="Montserrat" panose="00000500000000000000" pitchFamily="2" charset="0"/>
              </a:rPr>
              <a:t>Точност по цифра </a:t>
            </a:r>
            <a:r>
              <a:rPr lang="en-US" b="1" dirty="0">
                <a:latin typeface="Montserrat" panose="00000500000000000000" pitchFamily="2" charset="0"/>
              </a:rPr>
              <a:t>(</a:t>
            </a:r>
            <a:r>
              <a:rPr lang="bg-BG" b="1" dirty="0">
                <a:latin typeface="Montserrat" panose="00000500000000000000" pitchFamily="2" charset="0"/>
              </a:rPr>
              <a:t>Средно</a:t>
            </a:r>
            <a:r>
              <a:rPr lang="en-US" b="1" dirty="0">
                <a:latin typeface="Montserrat" panose="00000500000000000000" pitchFamily="2" charset="0"/>
              </a:rPr>
              <a:t> 98.33%)</a:t>
            </a:r>
            <a:endParaRPr lang="en-US" b="0" i="0" dirty="0">
              <a:effectLst/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235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C7FAB-AEF0-3F91-414E-0796D4152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31EB0062-488A-CD8D-D011-B8A94DF0F2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56412">
            <a:off x="6560238" y="508952"/>
            <a:ext cx="5445094" cy="60339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9D4AE3-1339-4E46-9AF6-AF82E2DE9BC6}"/>
              </a:ext>
            </a:extLst>
          </p:cNvPr>
          <p:cNvSpPr txBox="1"/>
          <p:nvPr/>
        </p:nvSpPr>
        <p:spPr>
          <a:xfrm>
            <a:off x="91124" y="76732"/>
            <a:ext cx="105800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4000" b="1" dirty="0">
                <a:solidFill>
                  <a:schemeClr val="bg1"/>
                </a:solidFill>
                <a:latin typeface="Montserrat" panose="00000500000000000000" pitchFamily="2" charset="0"/>
              </a:rPr>
              <a:t>Ключови технически иновации</a:t>
            </a:r>
            <a:endParaRPr lang="en-US" sz="40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A21BB9-438A-E658-2C9E-3AFDB14369A6}"/>
              </a:ext>
            </a:extLst>
          </p:cNvPr>
          <p:cNvSpPr txBox="1"/>
          <p:nvPr/>
        </p:nvSpPr>
        <p:spPr>
          <a:xfrm>
            <a:off x="10671142" y="6404610"/>
            <a:ext cx="15208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6/10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DC2493B-4F74-EBA9-908F-30DBC56BB83E}"/>
              </a:ext>
            </a:extLst>
          </p:cNvPr>
          <p:cNvCxnSpPr/>
          <p:nvPr/>
        </p:nvCxnSpPr>
        <p:spPr>
          <a:xfrm>
            <a:off x="0" y="869783"/>
            <a:ext cx="12192000" cy="0"/>
          </a:xfrm>
          <a:prstGeom prst="line">
            <a:avLst/>
          </a:prstGeom>
          <a:ln w="31750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3D1BC98-F8E4-3E6E-4F2A-EDEB58B09894}"/>
              </a:ext>
            </a:extLst>
          </p:cNvPr>
          <p:cNvSpPr txBox="1"/>
          <p:nvPr/>
        </p:nvSpPr>
        <p:spPr>
          <a:xfrm>
            <a:off x="-303012" y="1375039"/>
            <a:ext cx="765112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Clr>
                <a:schemeClr val="bg1"/>
              </a:buClr>
              <a:buSzPct val="120000"/>
              <a:buFont typeface="System Font Regular"/>
              <a:buChar char="→"/>
            </a:pPr>
            <a:r>
              <a:rPr lang="bg-BG" sz="2400" b="1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Достъпна имплементация</a:t>
            </a:r>
            <a:r>
              <a:rPr lang="en-US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: </a:t>
            </a:r>
            <a:r>
              <a:rPr lang="bg-BG" sz="2400" dirty="0">
                <a:solidFill>
                  <a:schemeClr val="bg1"/>
                </a:solidFill>
                <a:latin typeface="Montserrat" panose="00000500000000000000" pitchFamily="2" charset="0"/>
              </a:rPr>
              <a:t>Изградена</a:t>
            </a:r>
            <a:endParaRPr lang="en-US" sz="2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lvl="1">
              <a:buClr>
                <a:schemeClr val="bg1"/>
              </a:buClr>
              <a:buSzPct val="120000"/>
            </a:pPr>
            <a:r>
              <a:rPr lang="bg-BG" sz="2400" dirty="0">
                <a:solidFill>
                  <a:schemeClr val="bg1"/>
                </a:solidFill>
                <a:latin typeface="Montserrat" panose="00000500000000000000" pitchFamily="2" charset="0"/>
              </a:rPr>
              <a:t>от нулата за изследване и обучение</a:t>
            </a:r>
            <a:endParaRPr lang="en-US" sz="2400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  <a:p>
            <a:pPr marL="800100" lvl="1" indent="-342900">
              <a:buClr>
                <a:schemeClr val="bg1"/>
              </a:buClr>
              <a:buSzPct val="120000"/>
              <a:buFont typeface="System Font Regular"/>
              <a:buChar char="→"/>
            </a:pPr>
            <a:endParaRPr lang="en-US" sz="2400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  <a:p>
            <a:pPr marL="914400" lvl="1" indent="-457200">
              <a:buClr>
                <a:schemeClr val="bg1"/>
              </a:buClr>
              <a:buSzPct val="120000"/>
              <a:buFont typeface="System Font Regular"/>
              <a:buChar char="→"/>
            </a:pPr>
            <a:r>
              <a:rPr lang="bg-BG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Надеждна производителност</a:t>
            </a:r>
            <a:r>
              <a:rPr lang="en-US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: </a:t>
            </a:r>
          </a:p>
          <a:p>
            <a:pPr lvl="1">
              <a:buClr>
                <a:schemeClr val="bg1"/>
              </a:buClr>
              <a:buSzPct val="120000"/>
            </a:pPr>
            <a:r>
              <a:rPr lang="bg-BG" sz="2400" dirty="0">
                <a:solidFill>
                  <a:schemeClr val="bg1"/>
                </a:solidFill>
                <a:latin typeface="Montserrat" panose="00000500000000000000" pitchFamily="2" charset="0"/>
              </a:rPr>
              <a:t>контрол на стойностите и избягване на нежелани екстремни резултати</a:t>
            </a:r>
            <a:endParaRPr lang="en-US" sz="2400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  <a:p>
            <a:pPr marL="800100" lvl="1" indent="-342900">
              <a:buClr>
                <a:schemeClr val="bg1"/>
              </a:buClr>
              <a:buSzPct val="120000"/>
              <a:buFont typeface="System Font Regular"/>
              <a:buChar char="→"/>
            </a:pPr>
            <a:endParaRPr lang="en-US" sz="2400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  <a:p>
            <a:pPr marL="914400" lvl="1" indent="-457200">
              <a:buClr>
                <a:schemeClr val="bg1"/>
              </a:buClr>
              <a:buSzPct val="120000"/>
              <a:buFont typeface="System Font Regular"/>
              <a:buChar char="→"/>
            </a:pPr>
            <a:r>
              <a:rPr lang="bg-BG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Модулна архитектура</a:t>
            </a:r>
            <a:r>
              <a:rPr lang="en-US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: </a:t>
            </a:r>
            <a:r>
              <a:rPr lang="bg-BG" sz="2300" dirty="0">
                <a:solidFill>
                  <a:schemeClr val="bg1"/>
                </a:solidFill>
                <a:latin typeface="Montserrat" panose="00000500000000000000" pitchFamily="2" charset="0"/>
              </a:rPr>
              <a:t>лесна подмяна</a:t>
            </a:r>
            <a:endParaRPr lang="en-US" sz="23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lvl="1">
              <a:buClr>
                <a:schemeClr val="bg1"/>
              </a:buClr>
              <a:buSzPct val="120000"/>
            </a:pPr>
            <a:r>
              <a:rPr lang="bg-BG" sz="2300" dirty="0">
                <a:solidFill>
                  <a:schemeClr val="bg1"/>
                </a:solidFill>
                <a:latin typeface="Montserrat" panose="00000500000000000000" pitchFamily="2" charset="0"/>
              </a:rPr>
              <a:t>на компоненти и експериментиране</a:t>
            </a:r>
            <a:endParaRPr lang="en-US" sz="23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lvl="1">
              <a:buClr>
                <a:schemeClr val="bg1"/>
              </a:buClr>
              <a:buSzPct val="120000"/>
            </a:pPr>
            <a:endParaRPr lang="en-US" sz="2400" b="1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  <a:p>
            <a:pPr marL="914400" lvl="1" indent="-457200">
              <a:buClr>
                <a:schemeClr val="bg1"/>
              </a:buClr>
              <a:buSzPct val="120000"/>
              <a:buFont typeface="System Font Regular"/>
              <a:buChar char="→"/>
            </a:pPr>
            <a:r>
              <a:rPr lang="bg-BG" sz="2400" dirty="0">
                <a:solidFill>
                  <a:schemeClr val="bg1"/>
                </a:solidFill>
                <a:latin typeface="Montserrat" panose="00000500000000000000" pitchFamily="2" charset="0"/>
              </a:rPr>
              <a:t>Доказан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o </a:t>
            </a:r>
            <a:r>
              <a:rPr lang="bg-BG" sz="2400" dirty="0">
                <a:solidFill>
                  <a:schemeClr val="bg1"/>
                </a:solidFill>
                <a:latin typeface="Montserrat" panose="00000500000000000000" pitchFamily="2" charset="0"/>
              </a:rPr>
              <a:t>в реални приложения</a:t>
            </a:r>
            <a:endParaRPr lang="en-US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777C793-40DC-4AAD-FAB2-6480F39943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01648" y="0"/>
            <a:ext cx="6188703" cy="6858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59FB4B34-B73E-02E0-6FE6-F7B0F33E4A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7497" y="-1253765"/>
            <a:ext cx="61887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295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55321-0B10-E1D4-E5EB-E17E3A265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63F265F-5854-6CC8-5F95-641F9CFA3B98}"/>
              </a:ext>
            </a:extLst>
          </p:cNvPr>
          <p:cNvSpPr txBox="1"/>
          <p:nvPr/>
        </p:nvSpPr>
        <p:spPr>
          <a:xfrm>
            <a:off x="91124" y="76732"/>
            <a:ext cx="105800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4000" b="1" dirty="0">
                <a:solidFill>
                  <a:schemeClr val="bg1"/>
                </a:solidFill>
                <a:latin typeface="Montserrat" panose="00000500000000000000" pitchFamily="2" charset="0"/>
              </a:rPr>
              <a:t>Бъдещи</a:t>
            </a:r>
            <a:r>
              <a:rPr lang="en-US" sz="4000" b="1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bg-BG" sz="4000" b="1" dirty="0">
                <a:solidFill>
                  <a:schemeClr val="bg1"/>
                </a:solidFill>
                <a:latin typeface="Montserrat" panose="00000500000000000000" pitchFamily="2" charset="0"/>
              </a:rPr>
              <a:t>Планове</a:t>
            </a:r>
            <a:r>
              <a:rPr lang="en-US" sz="4000" b="1" dirty="0">
                <a:solidFill>
                  <a:schemeClr val="bg1"/>
                </a:solidFill>
                <a:latin typeface="Montserrat" panose="00000500000000000000" pitchFamily="2" charset="0"/>
              </a:rPr>
              <a:t> &amp; </a:t>
            </a:r>
            <a:r>
              <a:rPr lang="bg-BG" sz="4000" b="1" dirty="0">
                <a:solidFill>
                  <a:schemeClr val="bg1"/>
                </a:solidFill>
                <a:latin typeface="Montserrat" panose="00000500000000000000" pitchFamily="2" charset="0"/>
              </a:rPr>
              <a:t>Значимост</a:t>
            </a:r>
            <a:endParaRPr lang="en-US" sz="40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F07383-DCF4-5A9E-536B-F8217B2DFC15}"/>
              </a:ext>
            </a:extLst>
          </p:cNvPr>
          <p:cNvSpPr txBox="1"/>
          <p:nvPr/>
        </p:nvSpPr>
        <p:spPr>
          <a:xfrm>
            <a:off x="10671142" y="6404610"/>
            <a:ext cx="15208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7/10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D09E1F1-358A-BB2D-F051-A362601836E1}"/>
              </a:ext>
            </a:extLst>
          </p:cNvPr>
          <p:cNvCxnSpPr/>
          <p:nvPr/>
        </p:nvCxnSpPr>
        <p:spPr>
          <a:xfrm>
            <a:off x="0" y="869783"/>
            <a:ext cx="12192000" cy="0"/>
          </a:xfrm>
          <a:prstGeom prst="line">
            <a:avLst/>
          </a:prstGeom>
          <a:ln w="31750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ADD3FFBA-BA94-B92F-2A2A-F1DCCC15C7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01648" y="0"/>
            <a:ext cx="6188703" cy="6858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C3165C7E-E799-D8A8-CC4A-742BEB308F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7497" y="-1253765"/>
            <a:ext cx="6188703" cy="68580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631201EF-B092-0942-839B-26A501E13317}"/>
              </a:ext>
            </a:extLst>
          </p:cNvPr>
          <p:cNvGrpSpPr/>
          <p:nvPr/>
        </p:nvGrpSpPr>
        <p:grpSpPr>
          <a:xfrm>
            <a:off x="-19050" y="1958845"/>
            <a:ext cx="4980952" cy="4445765"/>
            <a:chOff x="0" y="1958845"/>
            <a:chExt cx="4980952" cy="444576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AA64729-2729-E6EE-20BB-86FCDB449D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3309372"/>
              <a:ext cx="4980952" cy="3095238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BAFFF08-B6C8-0C7C-6BDF-A5632AF11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157" y="1958845"/>
              <a:ext cx="2600000" cy="1885714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F9AB5AD-C2ED-18D2-0A2E-2F90E9E2ABEC}"/>
              </a:ext>
            </a:extLst>
          </p:cNvPr>
          <p:cNvGrpSpPr/>
          <p:nvPr/>
        </p:nvGrpSpPr>
        <p:grpSpPr>
          <a:xfrm flipH="1">
            <a:off x="7259825" y="1966327"/>
            <a:ext cx="4980952" cy="4445765"/>
            <a:chOff x="0" y="1958845"/>
            <a:chExt cx="4980952" cy="444576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EB6D4A8-B298-6828-3BE4-C0DE92B00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3309372"/>
              <a:ext cx="4980952" cy="3095238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FA9DED5-21F6-A337-0D01-B2708D8BA59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157" y="1958845"/>
              <a:ext cx="2600000" cy="1885714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7D2219A-2990-DA0E-D9DA-CCFAF5E5D6D2}"/>
              </a:ext>
            </a:extLst>
          </p:cNvPr>
          <p:cNvSpPr txBox="1"/>
          <p:nvPr/>
        </p:nvSpPr>
        <p:spPr>
          <a:xfrm>
            <a:off x="91125" y="1250397"/>
            <a:ext cx="893975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Clr>
                <a:schemeClr val="bg1"/>
              </a:buClr>
              <a:buSzPct val="120000"/>
              <a:buFont typeface="System Font Regular"/>
              <a:buChar char="→"/>
            </a:pPr>
            <a:r>
              <a:rPr lang="bg-BG" sz="2400" dirty="0">
                <a:solidFill>
                  <a:schemeClr val="bg1"/>
                </a:solidFill>
                <a:latin typeface="Montserrat" panose="00000500000000000000" pitchFamily="2" charset="0"/>
              </a:rPr>
              <a:t>Математически изследвания: завършена научна статия за невронни мрежи, които решават квадратни уравнения</a:t>
            </a:r>
            <a:endParaRPr lang="en-US" sz="2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914400" lvl="1" indent="-457200">
              <a:buClr>
                <a:schemeClr val="bg1"/>
              </a:buClr>
              <a:buSzPct val="120000"/>
              <a:buFont typeface="System Font Regular"/>
              <a:buChar char="→"/>
            </a:pPr>
            <a:endParaRPr lang="en-US" sz="2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914400" lvl="1" indent="-457200">
              <a:buClr>
                <a:schemeClr val="bg1"/>
              </a:buClr>
              <a:buSzPct val="120000"/>
              <a:buFont typeface="System Font Regular"/>
              <a:buChar char="→"/>
            </a:pPr>
            <a:endParaRPr lang="en-US" sz="1600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  <a:p>
            <a:pPr marL="914400" lvl="1" indent="-457200">
              <a:buClr>
                <a:schemeClr val="bg1"/>
              </a:buClr>
              <a:buSzPct val="120000"/>
              <a:buFont typeface="System Font Regular"/>
              <a:buChar char="→"/>
            </a:pPr>
            <a:r>
              <a:rPr lang="bg-BG" sz="2400" dirty="0">
                <a:solidFill>
                  <a:schemeClr val="bg1"/>
                </a:solidFill>
                <a:latin typeface="Montserrat" panose="00000500000000000000" pitchFamily="2" charset="0"/>
              </a:rPr>
              <a:t>Още по-добро разпознаване: обогатяване на данните и усъвършенстване на техниките за по-висока точност при класификация на цифри</a:t>
            </a:r>
            <a:endParaRPr lang="en-US" sz="2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914400" lvl="1" indent="-457200">
              <a:buClr>
                <a:schemeClr val="bg1"/>
              </a:buClr>
              <a:buSzPct val="120000"/>
              <a:buFont typeface="System Font Regular"/>
              <a:buChar char="→"/>
            </a:pPr>
            <a:endParaRPr lang="en-US" sz="1600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  <a:p>
            <a:pPr marL="914400" lvl="1" indent="-457200">
              <a:buClr>
                <a:schemeClr val="bg1"/>
              </a:buClr>
              <a:buSzPct val="120000"/>
              <a:buFont typeface="System Font Regular"/>
              <a:buChar char="→"/>
            </a:pPr>
            <a:r>
              <a:rPr lang="bg-BG" sz="2400" dirty="0">
                <a:solidFill>
                  <a:schemeClr val="bg1"/>
                </a:solidFill>
                <a:latin typeface="Montserrat" panose="00000500000000000000" pitchFamily="2" charset="0"/>
              </a:rPr>
              <a:t>Ускорение чрез 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GPU: </a:t>
            </a:r>
            <a:r>
              <a:rPr lang="bg-BG" sz="2400" dirty="0">
                <a:solidFill>
                  <a:schemeClr val="bg1"/>
                </a:solidFill>
                <a:latin typeface="Montserrat" panose="00000500000000000000" pitchFamily="2" charset="0"/>
              </a:rPr>
              <a:t>за по-скоростна работа обработка на големи обеми данни</a:t>
            </a:r>
            <a:endParaRPr lang="en-US" sz="2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914400" lvl="1" indent="-457200">
              <a:buClr>
                <a:schemeClr val="bg1"/>
              </a:buClr>
              <a:buSzPct val="120000"/>
              <a:buFont typeface="System Font Regular"/>
              <a:buChar char="→"/>
            </a:pPr>
            <a:endParaRPr lang="en-US" sz="1600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  <a:p>
            <a:pPr marL="914400" lvl="1" indent="-457200">
              <a:buClr>
                <a:schemeClr val="bg1"/>
              </a:buClr>
              <a:buSzPct val="120000"/>
              <a:buFont typeface="System Font Regular"/>
              <a:buChar char="→"/>
            </a:pPr>
            <a:r>
              <a:rPr lang="bg-BG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Образователен ресурс</a:t>
            </a:r>
            <a:endParaRPr lang="en-US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0934583-3B57-D439-632B-BB0BD144A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7892" y="-95548"/>
            <a:ext cx="2161050" cy="2161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960D39B-54A9-76E5-4AD4-D4F69FA927B8}"/>
                  </a:ext>
                </a:extLst>
              </p:cNvPr>
              <p:cNvSpPr txBox="1"/>
              <p:nvPr/>
            </p:nvSpPr>
            <p:spPr>
              <a:xfrm>
                <a:off x="6000322" y="2218182"/>
                <a:ext cx="2073529" cy="5870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𝑎𝑐</m:t>
                              </m:r>
                            </m:e>
                          </m:rad>
                        </m:num>
                        <m:den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960D39B-54A9-76E5-4AD4-D4F69FA92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0322" y="2218182"/>
                <a:ext cx="2073529" cy="587058"/>
              </a:xfrm>
              <a:prstGeom prst="rect">
                <a:avLst/>
              </a:prstGeom>
              <a:blipFill>
                <a:blip r:embed="rId8"/>
                <a:stretch>
                  <a:fillRect l="-1829" r="-2439"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7978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651CE-39D7-A105-5EEF-AED97F7BF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High resolution abstract digital background with connected white dots and multicolor light effects on black background">
            <a:extLst>
              <a:ext uri="{FF2B5EF4-FFF2-40B4-BE49-F238E27FC236}">
                <a16:creationId xmlns:a16="http://schemas.microsoft.com/office/drawing/2014/main" id="{47E619C3-2E5E-6FFD-2438-570D3CB917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33"/>
          <a:stretch/>
        </p:blipFill>
        <p:spPr bwMode="auto">
          <a:xfrm rot="4230197" flipH="1">
            <a:off x="8701876" y="65715"/>
            <a:ext cx="2553258" cy="3653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628755-65BA-DD6E-C74F-1673BE5799ED}"/>
              </a:ext>
            </a:extLst>
          </p:cNvPr>
          <p:cNvSpPr txBox="1"/>
          <p:nvPr/>
        </p:nvSpPr>
        <p:spPr>
          <a:xfrm>
            <a:off x="10671142" y="6404610"/>
            <a:ext cx="15208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8/10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AC18E02-D78F-5FA1-48E1-1A5CCAFFC2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01648" y="0"/>
            <a:ext cx="6188703" cy="6858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36CBB482-CF4E-95C3-3513-3A30621CEF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7497" y="-1253765"/>
            <a:ext cx="6188703" cy="6858000"/>
          </a:xfrm>
          <a:prstGeom prst="rect">
            <a:avLst/>
          </a:prstGeom>
        </p:spPr>
      </p:pic>
      <p:pic>
        <p:nvPicPr>
          <p:cNvPr id="15" name="Picture 2" descr="High resolution abstract digital background with connected white dots and multicolor light effects on black background">
            <a:extLst>
              <a:ext uri="{FF2B5EF4-FFF2-40B4-BE49-F238E27FC236}">
                <a16:creationId xmlns:a16="http://schemas.microsoft.com/office/drawing/2014/main" id="{92B5975D-9837-71DA-536E-1FE2BA5458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33"/>
          <a:stretch/>
        </p:blipFill>
        <p:spPr bwMode="auto">
          <a:xfrm rot="16508661" flipH="1">
            <a:off x="830915" y="2805991"/>
            <a:ext cx="2463336" cy="3524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2C45289-90D8-241A-C63E-D81224A4354F}"/>
              </a:ext>
            </a:extLst>
          </p:cNvPr>
          <p:cNvGrpSpPr/>
          <p:nvPr/>
        </p:nvGrpSpPr>
        <p:grpSpPr>
          <a:xfrm>
            <a:off x="805990" y="1352510"/>
            <a:ext cx="10580017" cy="3323987"/>
            <a:chOff x="805990" y="1523910"/>
            <a:chExt cx="10580017" cy="332398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C482FBF-9716-CA59-7608-C317C4C5AF8C}"/>
                </a:ext>
              </a:extLst>
            </p:cNvPr>
            <p:cNvSpPr txBox="1"/>
            <p:nvPr/>
          </p:nvSpPr>
          <p:spPr>
            <a:xfrm>
              <a:off x="805990" y="1523910"/>
              <a:ext cx="1058001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bg-BG" sz="72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ДЕМОНСТРАЦИЯ</a:t>
              </a:r>
              <a:endParaRPr lang="en-US" sz="72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E283427-CC39-D6B5-4C8D-FC9E0733A5B2}"/>
                </a:ext>
              </a:extLst>
            </p:cNvPr>
            <p:cNvSpPr txBox="1"/>
            <p:nvPr/>
          </p:nvSpPr>
          <p:spPr>
            <a:xfrm>
              <a:off x="1247775" y="2724239"/>
              <a:ext cx="9278425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914400" lvl="1" indent="-457200">
                <a:buClr>
                  <a:schemeClr val="bg1"/>
                </a:buClr>
                <a:buSzPct val="120000"/>
                <a:buFont typeface="System Font Regular"/>
                <a:buChar char="→"/>
              </a:pPr>
              <a:r>
                <a:rPr lang="bg-BG" sz="2400" i="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Разпознаване на нарисувани цифри</a:t>
              </a:r>
              <a:endParaRPr lang="en-US" sz="24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endParaRPr>
            </a:p>
            <a:p>
              <a:pPr marL="914400" lvl="1" indent="-457200">
                <a:buClr>
                  <a:schemeClr val="bg1"/>
                </a:buClr>
                <a:buSzPct val="120000"/>
                <a:buFont typeface="System Font Regular"/>
                <a:buChar char="→"/>
              </a:pPr>
              <a:endParaRPr lang="en-US" sz="12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endParaRPr>
            </a:p>
            <a:p>
              <a:pPr marL="914400" lvl="1" indent="-457200">
                <a:buClr>
                  <a:schemeClr val="bg1"/>
                </a:buClr>
                <a:buSzPct val="120000"/>
                <a:buFont typeface="System Font Regular"/>
                <a:buChar char="→"/>
              </a:pPr>
              <a:r>
                <a:rPr lang="bg-BG" sz="24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Визуализация на невронна мрежа</a:t>
              </a:r>
              <a:endParaRPr lang="en-US" sz="24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marL="914400" lvl="1" indent="-457200">
                <a:buClr>
                  <a:schemeClr val="bg1"/>
                </a:buClr>
                <a:buSzPct val="120000"/>
                <a:buFont typeface="System Font Regular"/>
                <a:buChar char="→"/>
              </a:pPr>
              <a:endParaRPr lang="bg-BG" sz="12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marL="914400" lvl="1" indent="-457200">
                <a:buClr>
                  <a:schemeClr val="bg1"/>
                </a:buClr>
                <a:buSzPct val="120000"/>
                <a:buFont typeface="System Font Regular"/>
                <a:buChar char="→"/>
              </a:pPr>
              <a:r>
                <a:rPr lang="bg-BG" sz="24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Универсално разпознаване на символи  </a:t>
              </a:r>
              <a:endParaRPr lang="en-US" sz="24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marL="914400" lvl="1" indent="-457200">
                <a:buClr>
                  <a:schemeClr val="bg1"/>
                </a:buClr>
                <a:buSzPct val="120000"/>
                <a:buFont typeface="System Font Regular"/>
                <a:buChar char="→"/>
              </a:pPr>
              <a:endParaRPr lang="en-US" sz="12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marL="914400" lvl="1" indent="-457200">
                <a:buClr>
                  <a:schemeClr val="bg1"/>
                </a:buClr>
                <a:buSzPct val="120000"/>
                <a:buFont typeface="System Font Regular"/>
                <a:buChar char="→"/>
              </a:pPr>
              <a:r>
                <a:rPr lang="bg-BG" sz="24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Платформа за решаване на квадратни уравнения</a:t>
              </a:r>
              <a:endParaRPr lang="en-US" sz="24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  <p:pic>
        <p:nvPicPr>
          <p:cNvPr id="4" name="Picture 3" descr="A blue and green connected circles&#10;&#10;AI-generated content may be incorrect.">
            <a:extLst>
              <a:ext uri="{FF2B5EF4-FFF2-40B4-BE49-F238E27FC236}">
                <a16:creationId xmlns:a16="http://schemas.microsoft.com/office/drawing/2014/main" id="{8959D21F-C9F9-1924-0816-344796C5A6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575" y="338896"/>
            <a:ext cx="1243757" cy="93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167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CF3F9-E788-926E-F039-8C2A7F95C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igh resolution abstract digital background with connected white dots and multicolor light effects on black background">
            <a:extLst>
              <a:ext uri="{FF2B5EF4-FFF2-40B4-BE49-F238E27FC236}">
                <a16:creationId xmlns:a16="http://schemas.microsoft.com/office/drawing/2014/main" id="{375B95E1-4BC3-4368-89B8-6238E9E5B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0730" y="0"/>
            <a:ext cx="9030878" cy="6404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61E97B-5828-ADFA-138A-E515395836A3}"/>
              </a:ext>
            </a:extLst>
          </p:cNvPr>
          <p:cNvSpPr txBox="1"/>
          <p:nvPr/>
        </p:nvSpPr>
        <p:spPr>
          <a:xfrm>
            <a:off x="91125" y="76732"/>
            <a:ext cx="56215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4000" b="1" dirty="0">
                <a:solidFill>
                  <a:schemeClr val="bg1"/>
                </a:solidFill>
                <a:latin typeface="Montserrat" panose="00000500000000000000" pitchFamily="2" charset="0"/>
              </a:rPr>
              <a:t>Благодарности</a:t>
            </a:r>
            <a:endParaRPr lang="en-US" sz="36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75F0D6A-9C67-E74E-FF95-8B0B594065AE}"/>
              </a:ext>
            </a:extLst>
          </p:cNvPr>
          <p:cNvCxnSpPr/>
          <p:nvPr/>
        </p:nvCxnSpPr>
        <p:spPr>
          <a:xfrm>
            <a:off x="0" y="869783"/>
            <a:ext cx="12192000" cy="0"/>
          </a:xfrm>
          <a:prstGeom prst="line">
            <a:avLst/>
          </a:prstGeom>
          <a:ln w="31750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3A9DDD0-7ADA-50E7-F142-9B3B7E7BAFD7}"/>
              </a:ext>
            </a:extLst>
          </p:cNvPr>
          <p:cNvSpPr txBox="1"/>
          <p:nvPr/>
        </p:nvSpPr>
        <p:spPr>
          <a:xfrm>
            <a:off x="10671142" y="6404610"/>
            <a:ext cx="15208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9/10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E08318-7998-71E6-5F89-12CCFB44C9DD}"/>
              </a:ext>
            </a:extLst>
          </p:cNvPr>
          <p:cNvSpPr txBox="1"/>
          <p:nvPr/>
        </p:nvSpPr>
        <p:spPr>
          <a:xfrm>
            <a:off x="226243" y="1757827"/>
            <a:ext cx="9030878" cy="3716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Clr>
                <a:schemeClr val="bg1"/>
              </a:buClr>
              <a:buSzPct val="120000"/>
              <a:buFont typeface="System Font Regular"/>
              <a:buChar char="→"/>
            </a:pPr>
            <a:r>
              <a:rPr lang="bg-BG" sz="3000" b="1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 Емил Келеведжиев </a:t>
            </a:r>
            <a:r>
              <a:rPr lang="bg-BG" sz="300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за:</a:t>
            </a:r>
            <a:endParaRPr lang="en-US" sz="3000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  <a:p>
            <a:pPr algn="l">
              <a:buClr>
                <a:schemeClr val="bg1"/>
              </a:buClr>
              <a:buSzPct val="120000"/>
            </a:pPr>
            <a:endParaRPr lang="en-US" sz="3000" b="0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  <a:p>
            <a:pPr marL="914400" lvl="1" indent="-457200">
              <a:lnSpc>
                <a:spcPct val="1500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bg-BG" sz="3000" b="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Направления и подкрепа</a:t>
            </a:r>
            <a:endParaRPr lang="en-US" sz="600" b="0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  <a:p>
            <a:pPr marL="914400" lvl="1" indent="-457200">
              <a:lnSpc>
                <a:spcPct val="1500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endParaRPr lang="en-US" sz="100" b="0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  <a:p>
            <a:pPr marL="914400" lvl="1" indent="-457200">
              <a:lnSpc>
                <a:spcPct val="1500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bg-BG" sz="3000" dirty="0">
                <a:solidFill>
                  <a:schemeClr val="bg1"/>
                </a:solidFill>
                <a:latin typeface="Montserrat" panose="00000500000000000000" pitchFamily="2" charset="0"/>
              </a:rPr>
              <a:t>Осигуряване на  ценни ресурси</a:t>
            </a:r>
            <a:endParaRPr lang="en-US" sz="600" b="0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  <a:p>
            <a:pPr marL="914400" lvl="1" indent="-457200">
              <a:lnSpc>
                <a:spcPct val="150000"/>
              </a:lnSpc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r>
              <a:rPr lang="bg-BG" sz="3000" dirty="0">
                <a:solidFill>
                  <a:schemeClr val="bg1"/>
                </a:solidFill>
                <a:latin typeface="Montserrat" panose="00000500000000000000" pitchFamily="2" charset="0"/>
              </a:rPr>
              <a:t>Експертно ръководство и насоки</a:t>
            </a:r>
            <a:endParaRPr lang="en-US" sz="600" b="0" i="0" dirty="0">
              <a:solidFill>
                <a:schemeClr val="bg1"/>
              </a:solidFill>
              <a:effectLst/>
              <a:latin typeface="Montserrat" panose="00000500000000000000" pitchFamily="2" charset="0"/>
            </a:endParaRPr>
          </a:p>
          <a:p>
            <a:pPr marL="457200" indent="-457200">
              <a:buClr>
                <a:schemeClr val="bg1"/>
              </a:buClr>
              <a:buSzPct val="120000"/>
              <a:buFont typeface="Arial" panose="020B0604020202020204" pitchFamily="34" charset="0"/>
              <a:buChar char="•"/>
            </a:pPr>
            <a:endParaRPr lang="en-US" sz="30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229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6" name="Picture 6">
            <a:extLst>
              <a:ext uri="{FF2B5EF4-FFF2-40B4-BE49-F238E27FC236}">
                <a16:creationId xmlns:a16="http://schemas.microsoft.com/office/drawing/2014/main" id="{ED79B024-EE75-7E19-3D7C-2726FB3FEF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412"/>
          <a:stretch/>
        </p:blipFill>
        <p:spPr bwMode="auto">
          <a:xfrm>
            <a:off x="0" y="0"/>
            <a:ext cx="482652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E89CEE5-3F65-1D54-F4CC-CD2552F5EEEC}"/>
              </a:ext>
            </a:extLst>
          </p:cNvPr>
          <p:cNvSpPr txBox="1"/>
          <p:nvPr/>
        </p:nvSpPr>
        <p:spPr>
          <a:xfrm>
            <a:off x="4685122" y="1701489"/>
            <a:ext cx="72869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9000" b="1" dirty="0">
                <a:latin typeface="Montserrat" panose="00000500000000000000" pitchFamily="2" charset="0"/>
              </a:rPr>
              <a:t>Благодаря</a:t>
            </a:r>
            <a:r>
              <a:rPr lang="en-US" sz="9000" b="1" dirty="0">
                <a:latin typeface="Montserrat" panose="00000500000000000000" pitchFamily="2" charset="0"/>
              </a:rPr>
              <a:t>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EB860D-1CF7-FE0C-DB16-6355B976654D}"/>
              </a:ext>
            </a:extLst>
          </p:cNvPr>
          <p:cNvSpPr txBox="1"/>
          <p:nvPr/>
        </p:nvSpPr>
        <p:spPr>
          <a:xfrm>
            <a:off x="5158031" y="3379460"/>
            <a:ext cx="641965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800" dirty="0">
                <a:latin typeface="Montserrat" panose="00000500000000000000" pitchFamily="2" charset="0"/>
              </a:rPr>
              <a:t>Автор</a:t>
            </a:r>
            <a:r>
              <a:rPr lang="en-US" sz="2800" dirty="0">
                <a:latin typeface="Montserrat" panose="00000500000000000000" pitchFamily="2" charset="0"/>
              </a:rPr>
              <a:t>: </a:t>
            </a:r>
          </a:p>
          <a:p>
            <a:pPr algn="ctr"/>
            <a:r>
              <a:rPr lang="en-US" sz="2800" dirty="0">
                <a:latin typeface="Montserrat" panose="00000500000000000000" pitchFamily="2" charset="0"/>
              </a:rPr>
              <a:t>Matt Minev</a:t>
            </a:r>
          </a:p>
          <a:p>
            <a:pPr algn="ctr"/>
            <a:endParaRPr lang="bg-BG" sz="2800" dirty="0">
              <a:latin typeface="Montserrat" panose="00000500000000000000" pitchFamily="2" charset="0"/>
            </a:endParaRPr>
          </a:p>
          <a:p>
            <a:pPr algn="ctr"/>
            <a:r>
              <a:rPr lang="bg-BG" sz="2800" dirty="0">
                <a:latin typeface="Montserrat" panose="00000500000000000000" pitchFamily="2" charset="0"/>
              </a:rPr>
              <a:t>Ученическа Научна Сесия </a:t>
            </a:r>
          </a:p>
          <a:p>
            <a:pPr algn="ctr"/>
            <a:r>
              <a:rPr lang="bg-BG" sz="2800" dirty="0">
                <a:latin typeface="Montserrat" panose="00000500000000000000" pitchFamily="2" charset="0"/>
              </a:rPr>
              <a:t>на </a:t>
            </a:r>
            <a:r>
              <a:rPr lang="bg-BG" sz="2800" dirty="0" err="1">
                <a:latin typeface="Montserrat" panose="00000500000000000000" pitchFamily="2" charset="0"/>
              </a:rPr>
              <a:t>УчИ</a:t>
            </a:r>
            <a:r>
              <a:rPr lang="bg-BG" sz="2800" dirty="0">
                <a:latin typeface="Montserrat" panose="00000500000000000000" pitchFamily="2" charset="0"/>
              </a:rPr>
              <a:t>-БАН, 2025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363DF8-A4F2-71CB-43CD-B166F582A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8814" y="185926"/>
            <a:ext cx="1520937" cy="151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112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</TotalTime>
  <Words>452</Words>
  <Application>Microsoft Macintosh PowerPoint</Application>
  <PresentationFormat>Widescreen</PresentationFormat>
  <Paragraphs>117</Paragraphs>
  <Slides>11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Montserrat</vt:lpstr>
      <vt:lpstr>Montserrat Medium</vt:lpstr>
      <vt:lpstr>System Font 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Masterality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</dc:creator>
  <cp:lastModifiedBy>Матей Л. Минев</cp:lastModifiedBy>
  <cp:revision>89</cp:revision>
  <dcterms:created xsi:type="dcterms:W3CDTF">2025-07-24T07:24:35Z</dcterms:created>
  <dcterms:modified xsi:type="dcterms:W3CDTF">2025-11-14T14:19:29Z</dcterms:modified>
</cp:coreProperties>
</file>