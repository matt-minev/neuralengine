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0" r:id="rId4"/>
    <p:sldId id="262" r:id="rId5"/>
    <p:sldId id="263" r:id="rId6"/>
    <p:sldId id="264" r:id="rId7"/>
    <p:sldId id="265" r:id="rId8"/>
    <p:sldId id="268" r:id="rId9"/>
    <p:sldId id="266" r:id="rId10"/>
    <p:sldId id="267" r:id="rId11"/>
    <p:sldId id="258" r:id="rId12"/>
    <p:sldId id="25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133D"/>
    <a:srgbClr val="421D5D"/>
    <a:srgbClr val="4E236F"/>
    <a:srgbClr val="8E2A90"/>
    <a:srgbClr val="17314D"/>
    <a:srgbClr val="920000"/>
    <a:srgbClr val="DA1616"/>
    <a:srgbClr val="C83728"/>
    <a:srgbClr val="2B59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875" autoAdjust="0"/>
    <p:restoredTop sz="94658"/>
  </p:normalViewPr>
  <p:slideViewPr>
    <p:cSldViewPr snapToGrid="0">
      <p:cViewPr varScale="1">
        <p:scale>
          <a:sx n="133" d="100"/>
          <a:sy n="133" d="100"/>
        </p:scale>
        <p:origin x="6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2C5099-0BBB-0E4D-97DC-F013207E5024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ED97B-6CE9-6341-B85C-A7AC117F7D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281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EED97B-6CE9-6341-B85C-A7AC117F7D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820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EED97B-6CE9-6341-B85C-A7AC117F7D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4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A704785-4860-56EC-5233-F1D84346C24B}"/>
              </a:ext>
            </a:extLst>
          </p:cNvPr>
          <p:cNvSpPr/>
          <p:nvPr userDrawn="1"/>
        </p:nvSpPr>
        <p:spPr>
          <a:xfrm>
            <a:off x="9525" y="6429105"/>
            <a:ext cx="2960017" cy="42062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DB3D5FA-E529-4AF3-18F1-A82A76BFD389}"/>
              </a:ext>
            </a:extLst>
          </p:cNvPr>
          <p:cNvSpPr/>
          <p:nvPr userDrawn="1"/>
        </p:nvSpPr>
        <p:spPr>
          <a:xfrm>
            <a:off x="8461022" y="6426797"/>
            <a:ext cx="3721453" cy="420624"/>
          </a:xfrm>
          <a:prstGeom prst="rect">
            <a:avLst/>
          </a:prstGeom>
          <a:solidFill>
            <a:srgbClr val="DA161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88AD65D-91EA-A4CB-2478-A79BFC471D00}"/>
              </a:ext>
            </a:extLst>
          </p:cNvPr>
          <p:cNvCxnSpPr/>
          <p:nvPr userDrawn="1"/>
        </p:nvCxnSpPr>
        <p:spPr>
          <a:xfrm>
            <a:off x="8453163" y="6426797"/>
            <a:ext cx="0" cy="420624"/>
          </a:xfrm>
          <a:prstGeom prst="line">
            <a:avLst/>
          </a:prstGeom>
          <a:ln>
            <a:solidFill>
              <a:srgbClr val="92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C65AED-BC36-B338-85AA-0C9A094710FE}"/>
              </a:ext>
            </a:extLst>
          </p:cNvPr>
          <p:cNvCxnSpPr>
            <a:cxnSpLocks/>
          </p:cNvCxnSpPr>
          <p:nvPr userDrawn="1"/>
        </p:nvCxnSpPr>
        <p:spPr>
          <a:xfrm>
            <a:off x="2959255" y="6419654"/>
            <a:ext cx="0" cy="4383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828744-BB4B-D027-176C-FF8712BBFD34}"/>
              </a:ext>
            </a:extLst>
          </p:cNvPr>
          <p:cNvSpPr/>
          <p:nvPr userDrawn="1"/>
        </p:nvSpPr>
        <p:spPr>
          <a:xfrm>
            <a:off x="0" y="6419654"/>
            <a:ext cx="12192000" cy="43834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3200" b="1" dirty="0">
              <a:latin typeface="Montserrat" panose="00000500000000000000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5AB0A3-1C2C-4E58-409E-EEFA8FADABDF}"/>
              </a:ext>
            </a:extLst>
          </p:cNvPr>
          <p:cNvSpPr txBox="1"/>
          <p:nvPr userDrawn="1"/>
        </p:nvSpPr>
        <p:spPr>
          <a:xfrm>
            <a:off x="2" y="6406728"/>
            <a:ext cx="29122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Matt Minev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C7E938-1770-0D3B-321C-125F7E6C0D45}"/>
              </a:ext>
            </a:extLst>
          </p:cNvPr>
          <p:cNvSpPr txBox="1"/>
          <p:nvPr userDrawn="1"/>
        </p:nvSpPr>
        <p:spPr>
          <a:xfrm>
            <a:off x="8724506" y="6410187"/>
            <a:ext cx="2093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Учи-БАН‘25</a:t>
            </a:r>
            <a:endParaRPr lang="en-US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9CE3A6-8A22-E30F-0155-D45B43325813}"/>
              </a:ext>
            </a:extLst>
          </p:cNvPr>
          <p:cNvSpPr txBox="1"/>
          <p:nvPr userDrawn="1"/>
        </p:nvSpPr>
        <p:spPr>
          <a:xfrm>
            <a:off x="2979066" y="6413160"/>
            <a:ext cx="54623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Neural Network Engine</a:t>
            </a:r>
          </a:p>
        </p:txBody>
      </p:sp>
    </p:spTree>
    <p:extLst>
      <p:ext uri="{BB962C8B-B14F-4D97-AF65-F5344CB8AC3E}">
        <p14:creationId xmlns:p14="http://schemas.microsoft.com/office/powerpoint/2010/main" val="957117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FCF911-E2B5-9B9D-AC20-9F87874C1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EDDAE4-F72F-6B47-F692-325FAC5A6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E6BDD-1736-C5B5-0C32-151FEDED8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774AEE-31DE-408D-A86C-C9765183083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86F19-C730-353A-045E-E3B95C4B58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E111C-8424-3C34-1DF1-B06B44CA9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F5370B-1853-4ABE-9A64-55D949A30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03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jpeg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igh resolution abstract digital background with connected white dots and multicolor light effects on black background">
            <a:extLst>
              <a:ext uri="{FF2B5EF4-FFF2-40B4-BE49-F238E27FC236}">
                <a16:creationId xmlns:a16="http://schemas.microsoft.com/office/drawing/2014/main" id="{633454B9-9DDC-A31E-67C0-9A7CAA064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368"/>
          <a:stretch/>
        </p:blipFill>
        <p:spPr bwMode="auto">
          <a:xfrm rot="3141372">
            <a:off x="7149636" y="1386647"/>
            <a:ext cx="4454198" cy="5243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E5BA300-E93D-C58E-AC23-891D00924C87}"/>
              </a:ext>
            </a:extLst>
          </p:cNvPr>
          <p:cNvSpPr/>
          <p:nvPr/>
        </p:nvSpPr>
        <p:spPr>
          <a:xfrm>
            <a:off x="217987" y="295882"/>
            <a:ext cx="11756026" cy="2052682"/>
          </a:xfrm>
          <a:prstGeom prst="roundRect">
            <a:avLst>
              <a:gd name="adj" fmla="val 12554"/>
            </a:avLst>
          </a:prstGeom>
          <a:gradFill>
            <a:gsLst>
              <a:gs pos="0">
                <a:srgbClr val="002060">
                  <a:alpha val="50000"/>
                </a:srgbClr>
              </a:gs>
              <a:gs pos="37000">
                <a:srgbClr val="421D5D">
                  <a:alpha val="50000"/>
                </a:srgbClr>
              </a:gs>
              <a:gs pos="100000">
                <a:srgbClr val="8E2A90">
                  <a:alpha val="50000"/>
                </a:srgbClr>
              </a:gs>
            </a:gsLst>
            <a:lin ang="5400000" scaled="1"/>
          </a:gradFill>
          <a:ln>
            <a:solidFill>
              <a:schemeClr val="bg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>
                <a:latin typeface="Montserrat" panose="00000500000000000000" pitchFamily="2" charset="0"/>
              </a:rPr>
              <a:t>	Neural Network Engine </a:t>
            </a:r>
          </a:p>
          <a:p>
            <a:pPr algn="ctr">
              <a:lnSpc>
                <a:spcPct val="150000"/>
              </a:lnSpc>
            </a:pPr>
            <a:r>
              <a:rPr lang="bg-BG" sz="2200" dirty="0">
                <a:latin typeface="Montserrat" panose="00000500000000000000" pitchFamily="2" charset="0"/>
              </a:rPr>
              <a:t>Цялостно Решение за Дълбоко Обучение с Автоматична Диференциация &amp;</a:t>
            </a:r>
            <a:r>
              <a:rPr lang="en-US" sz="2200" dirty="0">
                <a:latin typeface="Montserrat" panose="00000500000000000000" pitchFamily="2" charset="0"/>
              </a:rPr>
              <a:t> </a:t>
            </a:r>
            <a:r>
              <a:rPr lang="bg-BG" sz="2000" dirty="0">
                <a:latin typeface="Montserrat" panose="00000500000000000000" pitchFamily="2" charset="0"/>
              </a:rPr>
              <a:t>Изследователски софтуер за образование и експериментация с невронни мрежи</a:t>
            </a:r>
            <a:endParaRPr lang="en-US" sz="2000" dirty="0"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BCFF1-C736-BDAD-872F-0212DDC8994B}"/>
              </a:ext>
            </a:extLst>
          </p:cNvPr>
          <p:cNvSpPr txBox="1"/>
          <p:nvPr/>
        </p:nvSpPr>
        <p:spPr>
          <a:xfrm>
            <a:off x="575257" y="2696355"/>
            <a:ext cx="641965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dirty="0">
                <a:solidFill>
                  <a:schemeClr val="bg1"/>
                </a:solidFill>
                <a:latin typeface="Montserrat" panose="00000500000000000000" pitchFamily="2" charset="0"/>
              </a:rPr>
              <a:t>Автор</a:t>
            </a:r>
            <a:r>
              <a:rPr lang="en-US" sz="2800" dirty="0">
                <a:solidFill>
                  <a:schemeClr val="bg1"/>
                </a:solidFill>
                <a:latin typeface="Montserrat" panose="00000500000000000000" pitchFamily="2" charset="0"/>
              </a:rPr>
              <a:t>: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Montserrat" panose="00000500000000000000" pitchFamily="2" charset="0"/>
              </a:rPr>
              <a:t>Matt Minev</a:t>
            </a:r>
          </a:p>
          <a:p>
            <a:pPr algn="ctr"/>
            <a:endParaRPr lang="en-US" sz="2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algn="ctr"/>
            <a:r>
              <a:rPr lang="bg-BG" sz="2800" dirty="0">
                <a:solidFill>
                  <a:schemeClr val="bg1"/>
                </a:solidFill>
                <a:latin typeface="Montserrat" panose="00000500000000000000" pitchFamily="2" charset="0"/>
              </a:rPr>
              <a:t>Ученическа Научна Сесия на </a:t>
            </a:r>
            <a:r>
              <a:rPr lang="bg-BG" sz="2800" dirty="0" err="1">
                <a:solidFill>
                  <a:schemeClr val="bg1"/>
                </a:solidFill>
                <a:latin typeface="Montserrat" panose="00000500000000000000" pitchFamily="2" charset="0"/>
              </a:rPr>
              <a:t>УчИ</a:t>
            </a:r>
            <a:r>
              <a:rPr lang="bg-BG" sz="2800" dirty="0">
                <a:solidFill>
                  <a:schemeClr val="bg1"/>
                </a:solidFill>
                <a:latin typeface="Montserrat" panose="00000500000000000000" pitchFamily="2" charset="0"/>
              </a:rPr>
              <a:t>-БАН, 2025</a:t>
            </a:r>
          </a:p>
          <a:p>
            <a:pPr algn="ctr"/>
            <a:endParaRPr lang="en-US" sz="28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algn="ctr"/>
            <a:r>
              <a:rPr lang="bg-BG" sz="2800" dirty="0">
                <a:solidFill>
                  <a:schemeClr val="bg1"/>
                </a:solidFill>
                <a:latin typeface="Montserrat" panose="00000500000000000000" pitchFamily="2" charset="0"/>
              </a:rPr>
              <a:t>София</a:t>
            </a:r>
            <a:r>
              <a:rPr lang="en-US" sz="2800" dirty="0">
                <a:solidFill>
                  <a:schemeClr val="bg1"/>
                </a:solidFill>
                <a:latin typeface="Montserrat" panose="00000500000000000000" pitchFamily="2" charset="0"/>
              </a:rPr>
              <a:t>, </a:t>
            </a:r>
            <a:r>
              <a:rPr lang="bg-BG" sz="2800" dirty="0">
                <a:solidFill>
                  <a:schemeClr val="bg1"/>
                </a:solidFill>
                <a:latin typeface="Montserrat" panose="00000500000000000000" pitchFamily="2" charset="0"/>
              </a:rPr>
              <a:t>България</a:t>
            </a:r>
            <a:endParaRPr lang="en-US" sz="28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7B4F7C7-718C-7FC2-2AE5-7C14D35BCF3E}"/>
              </a:ext>
            </a:extLst>
          </p:cNvPr>
          <p:cNvSpPr/>
          <p:nvPr/>
        </p:nvSpPr>
        <p:spPr>
          <a:xfrm>
            <a:off x="265928" y="4886660"/>
            <a:ext cx="1778002" cy="177800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90405F3-82AA-E364-4601-6E7FF92D8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66" y="5017879"/>
            <a:ext cx="1520937" cy="1515563"/>
          </a:xfrm>
          <a:prstGeom prst="rect">
            <a:avLst/>
          </a:prstGeom>
        </p:spPr>
      </p:pic>
      <p:pic>
        <p:nvPicPr>
          <p:cNvPr id="3" name="Picture 2" descr="A blue and green connected circles&#10;&#10;AI-generated content may be incorrect.">
            <a:extLst>
              <a:ext uri="{FF2B5EF4-FFF2-40B4-BE49-F238E27FC236}">
                <a16:creationId xmlns:a16="http://schemas.microsoft.com/office/drawing/2014/main" id="{350A63B3-F230-1E18-9A1E-4856F933AA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2983" y="384717"/>
            <a:ext cx="1243757" cy="93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60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9D9A37-374F-67FC-FDEC-3DDDF820919F}"/>
              </a:ext>
            </a:extLst>
          </p:cNvPr>
          <p:cNvSpPr txBox="1"/>
          <p:nvPr/>
        </p:nvSpPr>
        <p:spPr>
          <a:xfrm>
            <a:off x="91125" y="76732"/>
            <a:ext cx="40943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Въведени</a:t>
            </a:r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5262E1-1FED-569A-52E2-278BEB742BB6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1/10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AD93D46-35CB-6B89-DC53-0C391026E55D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77CC59-5791-4946-78B0-CD2E082EB8FB}"/>
              </a:ext>
            </a:extLst>
          </p:cNvPr>
          <p:cNvSpPr txBox="1"/>
          <p:nvPr/>
        </p:nvSpPr>
        <p:spPr>
          <a:xfrm>
            <a:off x="212888" y="1343030"/>
            <a:ext cx="742504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>
                <a:schemeClr val="bg1"/>
              </a:buClr>
              <a:buSzPct val="120000"/>
            </a:pP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От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прост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Script </a:t>
            </a: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до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цялостен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Engine</a:t>
            </a:r>
          </a:p>
          <a:p>
            <a:pPr algn="l">
              <a:buClr>
                <a:schemeClr val="bg1"/>
              </a:buClr>
              <a:buSzPct val="120000"/>
            </a:pPr>
            <a:endParaRPr lang="en-US" sz="1600" b="1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Започнах с автоматична диференциация и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оптимизация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за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невронни мрежи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Няколко 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Python 	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файла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не бяха достатъчни за моите цели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Създадох централизиран 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Engine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вместо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да копирам код между приложенията</a:t>
            </a:r>
            <a:endParaRPr lang="en-US" sz="1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55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Цялостно решение, което стои в основата на всички демонстрации днес﻿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1" name="Picture 10" descr="A white line drawing of a gear and file&#10;&#10;AI-generated content may be incorrect.">
            <a:extLst>
              <a:ext uri="{FF2B5EF4-FFF2-40B4-BE49-F238E27FC236}">
                <a16:creationId xmlns:a16="http://schemas.microsoft.com/office/drawing/2014/main" id="{00032CCC-0AC0-B772-01A5-98220242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1" b="11244"/>
          <a:stretch/>
        </p:blipFill>
        <p:spPr>
          <a:xfrm>
            <a:off x="7502951" y="1734532"/>
            <a:ext cx="4384249" cy="3393649"/>
          </a:xfrm>
          <a:prstGeom prst="rect">
            <a:avLst/>
          </a:prstGeom>
        </p:spPr>
      </p:pic>
      <p:pic>
        <p:nvPicPr>
          <p:cNvPr id="4" name="Picture 3" descr="A blue and yellow snake logo&#10;&#10;AI-generated content may be incorrect.">
            <a:extLst>
              <a:ext uri="{FF2B5EF4-FFF2-40B4-BE49-F238E27FC236}">
                <a16:creationId xmlns:a16="http://schemas.microsoft.com/office/drawing/2014/main" id="{1DC72D33-B611-1806-E8DD-5F89A271C2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8366" y="2961287"/>
            <a:ext cx="355666" cy="35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85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CD4BE-4375-EA98-A820-8F814E76A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6FE8690-DEAD-364B-ABD5-DC5EBE34D108}"/>
              </a:ext>
            </a:extLst>
          </p:cNvPr>
          <p:cNvSpPr txBox="1"/>
          <p:nvPr/>
        </p:nvSpPr>
        <p:spPr>
          <a:xfrm>
            <a:off x="91124" y="76732"/>
            <a:ext cx="8308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Невронни мрежи накратко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33B75-AEC8-E145-9078-4612B6830F01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2/10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57050A3-BC78-58BC-A90B-D494BBBC8A92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01E173E-DEB7-7076-DC04-7701CCC8DE22}"/>
              </a:ext>
            </a:extLst>
          </p:cNvPr>
          <p:cNvSpPr txBox="1"/>
          <p:nvPr/>
        </p:nvSpPr>
        <p:spPr>
          <a:xfrm>
            <a:off x="26577" y="1030752"/>
            <a:ext cx="12100876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Математически неврони, организирани в слоеве, които преобразуват данни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Всеки слой научава все по-сложни закономерности и характеристики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Натрупани прости операции създават мощно разпознаване на модели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D831A639-D7EA-9D84-511E-18BD2884CC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5411" y="2887525"/>
            <a:ext cx="6978525" cy="317205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238DD-6EF7-FAF4-C21A-B3F794C8A113}"/>
              </a:ext>
            </a:extLst>
          </p:cNvPr>
          <p:cNvSpPr txBox="1"/>
          <p:nvPr/>
        </p:nvSpPr>
        <p:spPr>
          <a:xfrm>
            <a:off x="26577" y="2958988"/>
            <a:ext cx="4978834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Универсална апроксимация:</a:t>
            </a:r>
          </a:p>
          <a:p>
            <a:pPr algn="l">
              <a:buClr>
                <a:schemeClr val="bg1"/>
              </a:buClr>
              <a:buSzPct val="120000"/>
            </a:pP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     възможност да се</a:t>
            </a:r>
          </a:p>
          <a:p>
            <a:pPr algn="l">
              <a:buClr>
                <a:schemeClr val="bg1"/>
              </a:buClr>
              <a:buSzPct val="120000"/>
            </a:pP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     апроксимира всяка</a:t>
            </a:r>
          </a:p>
          <a:p>
            <a:pPr algn="l">
              <a:buClr>
                <a:schemeClr val="bg1"/>
              </a:buClr>
              <a:buSzPct val="120000"/>
            </a:pP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     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непрекъсната функция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Основата, която прави</a:t>
            </a:r>
          </a:p>
          <a:p>
            <a:pPr algn="l">
              <a:buClr>
                <a:schemeClr val="bg1"/>
              </a:buClr>
              <a:buSzPct val="120000"/>
            </a:pP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     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възможен съвременния</a:t>
            </a:r>
          </a:p>
          <a:p>
            <a:pPr algn="l">
              <a:buClr>
                <a:schemeClr val="bg1"/>
              </a:buClr>
              <a:buSzPct val="120000"/>
            </a:pP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     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изкуствен интелект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A5E73-B155-59A1-3980-B4873D159D49}"/>
              </a:ext>
            </a:extLst>
          </p:cNvPr>
          <p:cNvSpPr txBox="1"/>
          <p:nvPr/>
        </p:nvSpPr>
        <p:spPr>
          <a:xfrm>
            <a:off x="5064506" y="3267865"/>
            <a:ext cx="1736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dirty="0">
                <a:solidFill>
                  <a:srgbClr val="00B0F0"/>
                </a:solidFill>
                <a:latin typeface="Montserrat Medium" pitchFamily="2" charset="77"/>
              </a:rPr>
              <a:t>Входен слой</a:t>
            </a:r>
            <a:endParaRPr lang="en-US" dirty="0">
              <a:solidFill>
                <a:srgbClr val="00B0F0"/>
              </a:solidFill>
              <a:latin typeface="Montserrat Medium" pitchFamily="2" charset="7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55985-864B-AC25-A20F-2F0C1C3832FA}"/>
              </a:ext>
            </a:extLst>
          </p:cNvPr>
          <p:cNvSpPr txBox="1"/>
          <p:nvPr/>
        </p:nvSpPr>
        <p:spPr>
          <a:xfrm>
            <a:off x="7631498" y="3267865"/>
            <a:ext cx="17367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dirty="0">
                <a:solidFill>
                  <a:schemeClr val="accent2"/>
                </a:solidFill>
                <a:latin typeface="Montserrat Medium" pitchFamily="2" charset="77"/>
              </a:rPr>
              <a:t>Скрит слой</a:t>
            </a:r>
            <a:endParaRPr lang="en-US" dirty="0">
              <a:solidFill>
                <a:schemeClr val="accent2"/>
              </a:solidFill>
              <a:latin typeface="Montserrat Medium" pitchFamily="2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DD12A-1F1E-1C9B-DD41-B9BFA2649F9D}"/>
              </a:ext>
            </a:extLst>
          </p:cNvPr>
          <p:cNvSpPr txBox="1"/>
          <p:nvPr/>
        </p:nvSpPr>
        <p:spPr>
          <a:xfrm>
            <a:off x="9964131" y="3267865"/>
            <a:ext cx="1906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dirty="0">
                <a:solidFill>
                  <a:schemeClr val="accent6"/>
                </a:solidFill>
                <a:latin typeface="Montserrat Medium" pitchFamily="2" charset="77"/>
              </a:rPr>
              <a:t>Изходен слой</a:t>
            </a:r>
            <a:endParaRPr lang="en-US" dirty="0">
              <a:solidFill>
                <a:schemeClr val="accent6"/>
              </a:solidFill>
              <a:latin typeface="Montserrat Medium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7186AA-E1E6-1EAC-F208-A1A3AE9610C0}"/>
              </a:ext>
            </a:extLst>
          </p:cNvPr>
          <p:cNvSpPr/>
          <p:nvPr/>
        </p:nvSpPr>
        <p:spPr>
          <a:xfrm>
            <a:off x="5332780" y="3031300"/>
            <a:ext cx="6560449" cy="33369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942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54BD-5FAA-2768-1653-B4492B5BB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71CC174-C2F7-58C8-97F4-06C2BF31062C}"/>
              </a:ext>
            </a:extLst>
          </p:cNvPr>
          <p:cNvSpPr txBox="1"/>
          <p:nvPr/>
        </p:nvSpPr>
        <p:spPr>
          <a:xfrm>
            <a:off x="91123" y="76732"/>
            <a:ext cx="112151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Какво е Автоматична Диференциация?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6F11CF-984C-65B2-AA82-35115619381D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3/10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0BB346-750E-7E07-B9D2-43112E3A984D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83DF5C77-F217-F688-6FA8-F807C36DAC17}"/>
              </a:ext>
            </a:extLst>
          </p:cNvPr>
          <p:cNvGrpSpPr/>
          <p:nvPr/>
        </p:nvGrpSpPr>
        <p:grpSpPr>
          <a:xfrm>
            <a:off x="5867438" y="2879871"/>
            <a:ext cx="6168577" cy="3072885"/>
            <a:chOff x="5524108" y="2748612"/>
            <a:chExt cx="6503250" cy="3239603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C4AD9E99-4AD4-8DE0-E2F6-857F38F65F2D}"/>
                </a:ext>
              </a:extLst>
            </p:cNvPr>
            <p:cNvSpPr/>
            <p:nvPr/>
          </p:nvSpPr>
          <p:spPr>
            <a:xfrm>
              <a:off x="5524108" y="2748612"/>
              <a:ext cx="6503250" cy="3239603"/>
            </a:xfrm>
            <a:prstGeom prst="roundRect">
              <a:avLst>
                <a:gd name="adj" fmla="val 519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11" name="Object 10">
              <a:extLst>
                <a:ext uri="{FF2B5EF4-FFF2-40B4-BE49-F238E27FC236}">
                  <a16:creationId xmlns:a16="http://schemas.microsoft.com/office/drawing/2014/main" id="{A5B32E70-FAA0-3AAF-4F21-101CD5F2B86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52265935"/>
                </p:ext>
              </p:extLst>
            </p:nvPr>
          </p:nvGraphicFramePr>
          <p:xfrm>
            <a:off x="5571241" y="2796465"/>
            <a:ext cx="6407738" cy="31135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r:id="rId2" imgW="11709091" imgH="5688950" progId="">
                    <p:embed/>
                  </p:oleObj>
                </mc:Choice>
                <mc:Fallback>
                  <p:oleObj r:id="rId2" imgW="11709091" imgH="5688950" progId="">
                    <p:embed/>
                    <p:pic>
                      <p:nvPicPr>
                        <p:cNvPr id="11" name="Object 10">
                          <a:extLst>
                            <a:ext uri="{FF2B5EF4-FFF2-40B4-BE49-F238E27FC236}">
                              <a16:creationId xmlns:a16="http://schemas.microsoft.com/office/drawing/2014/main" id="{F1D0B40C-897C-1613-2FC8-49BA59B02FC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5571241" y="2796465"/>
                          <a:ext cx="6407738" cy="311352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89D4AC1-11D6-423C-A490-62BE70DF5FD8}"/>
              </a:ext>
            </a:extLst>
          </p:cNvPr>
          <p:cNvSpPr txBox="1"/>
          <p:nvPr/>
        </p:nvSpPr>
        <p:spPr>
          <a:xfrm>
            <a:off x="155985" y="1156424"/>
            <a:ext cx="1173121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Изчислява точно и ефективно градиентите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по време на обучението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на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невронни мрежи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Р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азбива сложните функции на елементарни операции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с известни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производни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 algn="l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DC891C-25F2-FAFA-24C4-14FB77A78B3F}"/>
              </a:ext>
            </a:extLst>
          </p:cNvPr>
          <p:cNvSpPr txBox="1"/>
          <p:nvPr/>
        </p:nvSpPr>
        <p:spPr>
          <a:xfrm>
            <a:off x="155985" y="3295772"/>
            <a:ext cx="594001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Систематично прилага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верижното правило върху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параметрите на мрежата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342900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342900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Стандартният метод, който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300" dirty="0">
                <a:solidFill>
                  <a:schemeClr val="bg1"/>
                </a:solidFill>
                <a:latin typeface="Montserrat" panose="00000500000000000000" pitchFamily="2" charset="0"/>
              </a:rPr>
              <a:t>прави възможно</a:t>
            </a:r>
            <a:r>
              <a:rPr lang="en-US" sz="2300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2300" dirty="0">
                <a:solidFill>
                  <a:schemeClr val="bg1"/>
                </a:solidFill>
                <a:latin typeface="Montserrat" panose="00000500000000000000" pitchFamily="2" charset="0"/>
              </a:rPr>
              <a:t>съвременното</a:t>
            </a:r>
            <a:endParaRPr lang="en-US" sz="23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>
              <a:buClr>
                <a:schemeClr val="bg1"/>
              </a:buClr>
              <a:buSzPct val="120000"/>
            </a:pP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дълбоко обучение в голям мащаб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67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90A9-FFF1-44B3-E3FA-F7D604321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BD08F75-07A0-EE43-78FD-7B2DC8168CE1}"/>
              </a:ext>
            </a:extLst>
          </p:cNvPr>
          <p:cNvSpPr txBox="1"/>
          <p:nvPr/>
        </p:nvSpPr>
        <p:spPr>
          <a:xfrm>
            <a:off x="91124" y="76732"/>
            <a:ext cx="124738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Какво разработих </a:t>
            </a:r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- </a:t>
            </a:r>
            <a:r>
              <a:rPr lang="bg-BG" sz="3850" b="1" dirty="0">
                <a:solidFill>
                  <a:schemeClr val="bg1"/>
                </a:solidFill>
                <a:latin typeface="Montserrat" panose="00000500000000000000" pitchFamily="2" charset="0"/>
              </a:rPr>
              <a:t>Преглед &amp; Архитектура</a:t>
            </a:r>
            <a:endParaRPr lang="en-US" sz="385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B5BE01-3F90-24B1-75AE-DE0C9E9F302C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4/10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47F4608-9DEE-A090-D52F-C3FD974EC539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Graphic 14">
            <a:extLst>
              <a:ext uri="{FF2B5EF4-FFF2-40B4-BE49-F238E27FC236}">
                <a16:creationId xmlns:a16="http://schemas.microsoft.com/office/drawing/2014/main" id="{2B8C9B0B-BE5E-EE3E-E242-9B70DB441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-1388960" y="-1111016"/>
            <a:ext cx="14466332" cy="908003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0530D5-31B6-B9CE-B4B8-DE8EF9472FE7}"/>
              </a:ext>
            </a:extLst>
          </p:cNvPr>
          <p:cNvSpPr/>
          <p:nvPr/>
        </p:nvSpPr>
        <p:spPr>
          <a:xfrm>
            <a:off x="163630" y="4449459"/>
            <a:ext cx="3748494" cy="1557616"/>
          </a:xfrm>
          <a:prstGeom prst="roundRect">
            <a:avLst>
              <a:gd name="adj" fmla="val 4962"/>
            </a:avLst>
          </a:prstGeom>
          <a:solidFill>
            <a:schemeClr val="bg1">
              <a:alpha val="25000"/>
            </a:schemeClr>
          </a:solidFill>
          <a:ln w="254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i="0" dirty="0">
                <a:effectLst/>
                <a:latin typeface="Montserrat" panose="00000500000000000000" pitchFamily="2" charset="0"/>
              </a:rPr>
              <a:t>9 </a:t>
            </a:r>
            <a:r>
              <a:rPr lang="bg-BG" sz="2400" b="1" i="0" dirty="0">
                <a:effectLst/>
                <a:latin typeface="Montserrat" panose="00000500000000000000" pitchFamily="2" charset="0"/>
              </a:rPr>
              <a:t>активационни</a:t>
            </a:r>
            <a:r>
              <a:rPr lang="en-US" sz="2400" b="1" i="0" dirty="0">
                <a:effectLst/>
                <a:latin typeface="Montserrat" panose="00000500000000000000" pitchFamily="2" charset="0"/>
              </a:rPr>
              <a:t> </a:t>
            </a:r>
            <a:r>
              <a:rPr lang="bg-BG" sz="2400" b="1" i="0" dirty="0">
                <a:effectLst/>
                <a:latin typeface="Montserrat" panose="00000500000000000000" pitchFamily="2" charset="0"/>
              </a:rPr>
              <a:t>функции</a:t>
            </a:r>
            <a:r>
              <a:rPr lang="en-US" b="0" i="0" dirty="0">
                <a:effectLst/>
                <a:latin typeface="Montserrat" panose="00000500000000000000" pitchFamily="2" charset="0"/>
              </a:rPr>
              <a:t> </a:t>
            </a:r>
          </a:p>
          <a:p>
            <a:pPr algn="ctr"/>
            <a:r>
              <a:rPr lang="bg-BG" dirty="0">
                <a:latin typeface="Montserrat" panose="00000500000000000000" pitchFamily="2" charset="0"/>
              </a:rPr>
              <a:t> </a:t>
            </a:r>
            <a:r>
              <a:rPr lang="bg-BG" sz="1700" dirty="0">
                <a:latin typeface="Montserrat" panose="00000500000000000000" pitchFamily="2" charset="0"/>
              </a:rPr>
              <a:t>от класически</a:t>
            </a:r>
            <a:r>
              <a:rPr lang="en-US" sz="1700" b="0" i="0" dirty="0">
                <a:effectLst/>
                <a:latin typeface="Montserrat" panose="00000500000000000000" pitchFamily="2" charset="0"/>
              </a:rPr>
              <a:t> (ReLU, Sigmoid) </a:t>
            </a:r>
            <a:r>
              <a:rPr lang="bg-BG" sz="1700" b="0" i="0" dirty="0">
                <a:effectLst/>
                <a:latin typeface="Montserrat" panose="00000500000000000000" pitchFamily="2" charset="0"/>
              </a:rPr>
              <a:t>до</a:t>
            </a:r>
            <a:r>
              <a:rPr lang="en-US" sz="1700" b="0" i="0" dirty="0">
                <a:effectLst/>
                <a:latin typeface="Montserrat" panose="00000500000000000000" pitchFamily="2" charset="0"/>
              </a:rPr>
              <a:t> </a:t>
            </a:r>
            <a:r>
              <a:rPr lang="bg-BG" sz="1700" b="0" i="0" dirty="0">
                <a:effectLst/>
                <a:latin typeface="Montserrat" panose="00000500000000000000" pitchFamily="2" charset="0"/>
              </a:rPr>
              <a:t>модерни</a:t>
            </a:r>
            <a:r>
              <a:rPr lang="en-US" sz="1700" b="0" i="0" dirty="0">
                <a:effectLst/>
                <a:latin typeface="Montserrat" panose="00000500000000000000" pitchFamily="2" charset="0"/>
              </a:rPr>
              <a:t> (Swish, GELU)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5629E3A-4542-0CD0-643E-775CA527BD21}"/>
              </a:ext>
            </a:extLst>
          </p:cNvPr>
          <p:cNvSpPr/>
          <p:nvPr/>
        </p:nvSpPr>
        <p:spPr>
          <a:xfrm>
            <a:off x="9299542" y="1707975"/>
            <a:ext cx="2132029" cy="738775"/>
          </a:xfrm>
          <a:prstGeom prst="roundRect">
            <a:avLst>
              <a:gd name="adj" fmla="val 4962"/>
            </a:avLst>
          </a:prstGeom>
          <a:solidFill>
            <a:schemeClr val="bg1">
              <a:alpha val="25000"/>
            </a:schemeClr>
          </a:solidFill>
          <a:ln w="254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i="0" dirty="0">
                <a:effectLst/>
                <a:latin typeface="Montserrat" panose="00000500000000000000" pitchFamily="2" charset="0"/>
              </a:rPr>
              <a:t>SGD &amp; Adam</a:t>
            </a:r>
          </a:p>
          <a:p>
            <a:pPr algn="ctr"/>
            <a:r>
              <a:rPr lang="en-US" sz="2000" b="1" dirty="0">
                <a:latin typeface="Montserrat" panose="00000500000000000000" pitchFamily="2" charset="0"/>
              </a:rPr>
              <a:t>Optimizers</a:t>
            </a:r>
            <a:endParaRPr lang="en-US" sz="1600" b="0" i="0" dirty="0">
              <a:effectLst/>
              <a:latin typeface="Montserrat" panose="00000500000000000000" pitchFamily="2" charset="0"/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D9A95B5-0E17-467F-1398-BD5E08D0D35D}"/>
              </a:ext>
            </a:extLst>
          </p:cNvPr>
          <p:cNvCxnSpPr>
            <a:cxnSpLocks/>
          </p:cNvCxnSpPr>
          <p:nvPr/>
        </p:nvCxnSpPr>
        <p:spPr>
          <a:xfrm>
            <a:off x="3912124" y="4685123"/>
            <a:ext cx="405352" cy="999240"/>
          </a:xfrm>
          <a:prstGeom prst="straightConnector1">
            <a:avLst/>
          </a:prstGeom>
          <a:ln w="381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9">
            <a:extLst>
              <a:ext uri="{FF2B5EF4-FFF2-40B4-BE49-F238E27FC236}">
                <a16:creationId xmlns:a16="http://schemas.microsoft.com/office/drawing/2014/main" id="{0597756B-5FD0-440D-5A3C-A179A59FC154}"/>
              </a:ext>
            </a:extLst>
          </p:cNvPr>
          <p:cNvSpPr/>
          <p:nvPr/>
        </p:nvSpPr>
        <p:spPr>
          <a:xfrm>
            <a:off x="339364" y="1071948"/>
            <a:ext cx="2586717" cy="1557611"/>
          </a:xfrm>
          <a:prstGeom prst="roundRect">
            <a:avLst>
              <a:gd name="adj" fmla="val 4962"/>
            </a:avLst>
          </a:prstGeom>
          <a:solidFill>
            <a:schemeClr val="bg1">
              <a:alpha val="25000"/>
            </a:schemeClr>
          </a:solidFill>
          <a:ln w="254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bg-BG" b="1" dirty="0">
                <a:latin typeface="Montserrat" panose="00000500000000000000" pitchFamily="2" charset="0"/>
              </a:rPr>
              <a:t>Три цялостни приложения</a:t>
            </a:r>
            <a:r>
              <a:rPr lang="bg-BG" dirty="0">
                <a:latin typeface="Montserrat" panose="00000500000000000000" pitchFamily="2" charset="0"/>
              </a:rPr>
              <a:t>, демонстриращи възможностите му в реални условия</a:t>
            </a:r>
          </a:p>
        </p:txBody>
      </p:sp>
    </p:spTree>
    <p:extLst>
      <p:ext uri="{BB962C8B-B14F-4D97-AF65-F5344CB8AC3E}">
        <p14:creationId xmlns:p14="http://schemas.microsoft.com/office/powerpoint/2010/main" val="3170729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DBE5D-3866-4392-1B68-4871392C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D10947D-7965-EFA0-6DEB-3E3DC45E7F0E}"/>
              </a:ext>
            </a:extLst>
          </p:cNvPr>
          <p:cNvSpPr/>
          <p:nvPr/>
        </p:nvSpPr>
        <p:spPr>
          <a:xfrm>
            <a:off x="7356489" y="1414724"/>
            <a:ext cx="4690965" cy="3615594"/>
          </a:xfrm>
          <a:prstGeom prst="roundRect">
            <a:avLst>
              <a:gd name="adj" fmla="val 519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92E2E1-A4EE-74F8-A22A-247B118C9DBE}"/>
              </a:ext>
            </a:extLst>
          </p:cNvPr>
          <p:cNvSpPr txBox="1"/>
          <p:nvPr/>
        </p:nvSpPr>
        <p:spPr>
          <a:xfrm>
            <a:off x="91124" y="76732"/>
            <a:ext cx="11956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Основни Резултати &amp; </a:t>
            </a:r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Производителност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26B5CC-3190-ABF7-AA97-D249DEB00250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5/10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0F42331-4317-EC45-18C8-A974EB974989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26995A6-1865-8C8B-EBA4-59546DC04F47}"/>
              </a:ext>
            </a:extLst>
          </p:cNvPr>
          <p:cNvSpPr txBox="1"/>
          <p:nvPr/>
        </p:nvSpPr>
        <p:spPr>
          <a:xfrm>
            <a:off x="-367646" y="1450683"/>
            <a:ext cx="7724133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Разпознаване на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цифри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98.33% </a:t>
            </a:r>
            <a:endParaRPr lang="bg-BG" sz="2400" b="1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lvl="1">
              <a:buClr>
                <a:schemeClr val="bg1"/>
              </a:buClr>
              <a:buSzPct val="120000"/>
            </a:pPr>
            <a:r>
              <a:rPr lang="bg-BG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     </a:t>
            </a: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точност</a:t>
            </a:r>
            <a:r>
              <a: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(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разширен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 модел с 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EMNIST)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Универсално разпознаване на символи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86.6%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точност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в 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62 </a:t>
            </a: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класа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en-US" sz="2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(</a:t>
            </a:r>
            <a:r>
              <a:rPr lang="bg-BG" sz="2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цифри</a:t>
            </a:r>
            <a:r>
              <a:rPr lang="en-US" sz="2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+ </a:t>
            </a:r>
            <a:r>
              <a:rPr lang="bg-BG" sz="2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букви</a:t>
            </a:r>
            <a:r>
              <a:rPr lang="en-US" sz="2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)</a:t>
            </a: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Математическа иновация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Невронни мрежи решаващи на квадратн</a:t>
            </a: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и уравнения</a:t>
            </a:r>
            <a:endParaRPr lang="en-US" sz="22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Производителност</a:t>
            </a:r>
            <a:r>
              <a:rPr lang="en-US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en-US" sz="22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&gt;20,000 </a:t>
            </a:r>
            <a:r>
              <a:rPr lang="bg-BG" sz="2200" dirty="0">
                <a:solidFill>
                  <a:schemeClr val="bg1"/>
                </a:solidFill>
                <a:latin typeface="Montserrat" panose="00000500000000000000" pitchFamily="2" charset="0"/>
              </a:rPr>
              <a:t>примера</a:t>
            </a:r>
            <a:r>
              <a:rPr lang="en-US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/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секунда</a:t>
            </a:r>
            <a:r>
              <a:rPr lang="en-US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</a:t>
            </a:r>
            <a:r>
              <a:rPr lang="bg-BG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със стандартен хардуер</a:t>
            </a:r>
            <a:endParaRPr lang="en-US" sz="22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12" name="Picture 11" descr="A comparison of blue and pink vertical bars&#10;&#10;AI-generated content may be incorrect.">
            <a:extLst>
              <a:ext uri="{FF2B5EF4-FFF2-40B4-BE49-F238E27FC236}">
                <a16:creationId xmlns:a16="http://schemas.microsoft.com/office/drawing/2014/main" id="{337485D9-5719-3822-2717-29D5FEECEB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50000" b="1211"/>
          <a:stretch/>
        </p:blipFill>
        <p:spPr>
          <a:xfrm>
            <a:off x="7432458" y="1450683"/>
            <a:ext cx="4521007" cy="3535053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C18F03-7582-41DE-33F5-6EBC98B33587}"/>
              </a:ext>
            </a:extLst>
          </p:cNvPr>
          <p:cNvSpPr/>
          <p:nvPr/>
        </p:nvSpPr>
        <p:spPr>
          <a:xfrm>
            <a:off x="7356487" y="5191289"/>
            <a:ext cx="4690965" cy="738775"/>
          </a:xfrm>
          <a:prstGeom prst="roundRect">
            <a:avLst>
              <a:gd name="adj" fmla="val 4962"/>
            </a:avLst>
          </a:prstGeom>
          <a:solidFill>
            <a:schemeClr val="bg1">
              <a:alpha val="25000"/>
            </a:schemeClr>
          </a:solidFill>
          <a:ln w="254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bg-BG" b="1" dirty="0">
                <a:latin typeface="Montserrat" panose="00000500000000000000" pitchFamily="2" charset="0"/>
              </a:rPr>
              <a:t>Точност по цифра </a:t>
            </a:r>
            <a:r>
              <a:rPr lang="en-US" b="1" dirty="0">
                <a:latin typeface="Montserrat" panose="00000500000000000000" pitchFamily="2" charset="0"/>
              </a:rPr>
              <a:t>(</a:t>
            </a:r>
            <a:r>
              <a:rPr lang="bg-BG" b="1" dirty="0">
                <a:latin typeface="Montserrat" panose="00000500000000000000" pitchFamily="2" charset="0"/>
              </a:rPr>
              <a:t>Средно</a:t>
            </a:r>
            <a:r>
              <a:rPr lang="en-US" b="1" dirty="0">
                <a:latin typeface="Montserrat" panose="00000500000000000000" pitchFamily="2" charset="0"/>
              </a:rPr>
              <a:t> 98.33%)</a:t>
            </a:r>
            <a:endParaRPr lang="en-US" b="0" i="0" dirty="0">
              <a:effectLst/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23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7FAB-AEF0-3F91-414E-0796D4152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1EB0062-488A-CD8D-D011-B8A94DF0F2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56412">
            <a:off x="6560238" y="508952"/>
            <a:ext cx="5445094" cy="60339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9D4AE3-1339-4E46-9AF6-AF82E2DE9BC6}"/>
              </a:ext>
            </a:extLst>
          </p:cNvPr>
          <p:cNvSpPr txBox="1"/>
          <p:nvPr/>
        </p:nvSpPr>
        <p:spPr>
          <a:xfrm>
            <a:off x="91124" y="76732"/>
            <a:ext cx="105800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Ключови технически иновации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A21BB9-438A-E658-2C9E-3AFDB14369A6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6/10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C2493B-4F74-EBA9-908F-30DBC56BB83E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3D1BC98-F8E4-3E6E-4F2A-EDEB58B09894}"/>
              </a:ext>
            </a:extLst>
          </p:cNvPr>
          <p:cNvSpPr txBox="1"/>
          <p:nvPr/>
        </p:nvSpPr>
        <p:spPr>
          <a:xfrm>
            <a:off x="-303012" y="1375039"/>
            <a:ext cx="765112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Достъпна имплементация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Изградена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lvl="1">
              <a:buClr>
                <a:schemeClr val="bg1"/>
              </a:buClr>
              <a:buSzPct val="120000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от нулата за изследване и обучение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800100" lvl="1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Надеждна производителност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</a:p>
          <a:p>
            <a:pPr lvl="1">
              <a:buClr>
                <a:schemeClr val="bg1"/>
              </a:buClr>
              <a:buSzPct val="120000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контрол на стойностите и избягване на нежелани екстремни резултати</a:t>
            </a: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800100" lvl="1" indent="-3429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Модулна архитектура</a:t>
            </a:r>
            <a:r>
              <a: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: </a:t>
            </a:r>
            <a:r>
              <a:rPr lang="bg-BG" sz="2300" dirty="0">
                <a:solidFill>
                  <a:schemeClr val="bg1"/>
                </a:solidFill>
                <a:latin typeface="Montserrat" panose="00000500000000000000" pitchFamily="2" charset="0"/>
              </a:rPr>
              <a:t>лесна подмяна</a:t>
            </a:r>
            <a:endParaRPr lang="en-US" sz="23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lvl="1">
              <a:buClr>
                <a:schemeClr val="bg1"/>
              </a:buClr>
              <a:buSzPct val="120000"/>
            </a:pPr>
            <a:r>
              <a:rPr lang="bg-BG" sz="2300" dirty="0">
                <a:solidFill>
                  <a:schemeClr val="bg1"/>
                </a:solidFill>
                <a:latin typeface="Montserrat" panose="00000500000000000000" pitchFamily="2" charset="0"/>
              </a:rPr>
              <a:t>на компоненти и експериментиране</a:t>
            </a:r>
            <a:endParaRPr lang="en-US" sz="23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lvl="1">
              <a:buClr>
                <a:schemeClr val="bg1"/>
              </a:buClr>
              <a:buSzPct val="120000"/>
            </a:pPr>
            <a:endParaRPr lang="en-US" sz="2400" b="1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Доказан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o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в реални приложения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777C793-40DC-4AAD-FAB2-6480F3994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1648" y="0"/>
            <a:ext cx="6188703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9FB4B34-B73E-02E0-6FE6-F7B0F33E4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7497" y="-1253765"/>
            <a:ext cx="61887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295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DEDE8-5D88-7016-9DC1-3F14BFA62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A8B37F7-450A-A15D-167C-F93DEAD340D3}"/>
              </a:ext>
            </a:extLst>
          </p:cNvPr>
          <p:cNvSpPr txBox="1"/>
          <p:nvPr/>
        </p:nvSpPr>
        <p:spPr>
          <a:xfrm>
            <a:off x="91124" y="76732"/>
            <a:ext cx="105800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Активна разработка &amp; Новости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EDBC06-7900-40B9-C609-4AA93BBF83B9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7/10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36963F-E986-C9D4-E1E9-81E4F025527B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3A1BFE1D-94D4-2D2F-44BE-41E10A13DF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648" y="0"/>
            <a:ext cx="6188703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92D045C-B586-D21E-7E09-749CE6B4F9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7497" y="-1253765"/>
            <a:ext cx="6188703" cy="68580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8D24411-4868-1E5E-C7AD-12E25C1C9AB5}"/>
              </a:ext>
            </a:extLst>
          </p:cNvPr>
          <p:cNvGrpSpPr/>
          <p:nvPr/>
        </p:nvGrpSpPr>
        <p:grpSpPr>
          <a:xfrm>
            <a:off x="-336886" y="1029037"/>
            <a:ext cx="7464208" cy="5170646"/>
            <a:chOff x="-303012" y="1375039"/>
            <a:chExt cx="7464208" cy="517064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AFE987D-B2BA-B905-A07A-76E4DA016509}"/>
                </a:ext>
              </a:extLst>
            </p:cNvPr>
            <p:cNvSpPr txBox="1"/>
            <p:nvPr/>
          </p:nvSpPr>
          <p:spPr>
            <a:xfrm>
              <a:off x="-303012" y="1375039"/>
              <a:ext cx="7464208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Методи за инициализация на теглата:</a:t>
              </a:r>
            </a:p>
            <a:p>
              <a:pPr lvl="1" algn="ctr">
                <a:buClr>
                  <a:schemeClr val="bg1"/>
                </a:buClr>
                <a:buSzPct val="120000"/>
              </a:pPr>
              <a:r>
                <a:rPr lang="bg-BG" sz="2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(</a:t>
              </a:r>
              <a:r>
                <a:rPr lang="en-US" sz="2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He, Xavier, Orthogonal, Uniform</a:t>
              </a:r>
              <a:r>
                <a:rPr lang="bg-BG" sz="2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)</a:t>
              </a:r>
              <a:endParaRPr lang="bg-BG" sz="200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en-US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Advanced learning rate schedulers</a:t>
              </a:r>
              <a:r>
                <a:rPr lang="en-US" sz="2400" i="0" dirty="0">
                  <a:solidFill>
                    <a:schemeClr val="bg1"/>
                  </a:solidFill>
                  <a:effectLst/>
                  <a:latin typeface="Montserrat" panose="00000500000000000000" pitchFamily="2" charset="0"/>
                </a:rPr>
                <a:t>:</a:t>
              </a:r>
              <a:endPara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lvl="1" algn="ctr">
                <a:buClr>
                  <a:schemeClr val="bg1"/>
                </a:buClr>
                <a:buSzPct val="120000"/>
              </a:pPr>
              <a:endParaRPr lang="bg-BG" sz="8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lvl="1" algn="ctr">
                <a:buClr>
                  <a:schemeClr val="bg1"/>
                </a:buClr>
                <a:buSzPct val="120000"/>
              </a:pPr>
              <a:r>
                <a:rPr lang="en-US" sz="2000" noProof="0" dirty="0">
                  <a:solidFill>
                    <a:schemeClr val="bg1"/>
                  </a:solidFill>
                  <a:latin typeface="Montserrat" panose="00000500000000000000" pitchFamily="2" charset="0"/>
                </a:rPr>
                <a:t>Step, Exponential, CosineAnnealing, ReduceLROnPlateau, OneCycleLR</a:t>
              </a:r>
            </a:p>
            <a:p>
              <a:pPr lvl="1" algn="ctr">
                <a:buClr>
                  <a:schemeClr val="bg1"/>
                </a:buClr>
                <a:buSzPct val="120000"/>
              </a:pPr>
              <a:endParaRPr lang="en-US" sz="2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en-US" sz="24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Gradient clipping</a:t>
              </a: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en-US" sz="24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Нова и подобрена </a:t>
              </a:r>
              <a:r>
                <a:rPr lang="en-US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web </a:t>
              </a: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версия на </a:t>
              </a:r>
              <a:r>
                <a:rPr lang="en-US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Universal Character Recognizer</a:t>
              </a: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en-US" sz="24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Нов алгоритъм за генериране на</a:t>
              </a:r>
              <a:r>
                <a:rPr lang="en-US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 </a:t>
              </a: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училищни квадратни уравнени</a:t>
              </a:r>
              <a:endParaRPr lang="en-US" sz="24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1448EDE-8355-C3E8-EFD0-B644B7DD0DA8}"/>
                </a:ext>
              </a:extLst>
            </p:cNvPr>
            <p:cNvSpPr txBox="1"/>
            <p:nvPr/>
          </p:nvSpPr>
          <p:spPr>
            <a:xfrm>
              <a:off x="5893870" y="2883066"/>
              <a:ext cx="144379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 algn="ctr">
                <a:buClr>
                  <a:schemeClr val="bg1"/>
                </a:buClr>
                <a:buSzPct val="120000"/>
              </a:pPr>
              <a:r>
                <a:rPr lang="bg-BG" sz="40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)</a:t>
              </a:r>
              <a:endParaRPr lang="bg-BG" sz="400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C700F97-B3E9-85B8-34B1-815C0FA0B9B9}"/>
                </a:ext>
              </a:extLst>
            </p:cNvPr>
            <p:cNvSpPr txBox="1"/>
            <p:nvPr/>
          </p:nvSpPr>
          <p:spPr>
            <a:xfrm>
              <a:off x="605675" y="2863394"/>
              <a:ext cx="577516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 algn="ctr">
                <a:buClr>
                  <a:schemeClr val="bg1"/>
                </a:buClr>
                <a:buSzPct val="120000"/>
              </a:pPr>
              <a:r>
                <a:rPr lang="bg-BG" sz="4000" dirty="0">
                  <a:solidFill>
                    <a:schemeClr val="bg1"/>
                  </a:solidFill>
                  <a:effectLst/>
                  <a:latin typeface="Montserrat" panose="00000500000000000000" pitchFamily="2" charset="0"/>
                </a:rPr>
                <a:t>(</a:t>
              </a:r>
            </a:p>
          </p:txBody>
        </p:sp>
      </p:grpSp>
      <p:pic>
        <p:nvPicPr>
          <p:cNvPr id="13" name="Graphic 12" descr="Rocket with solid fill">
            <a:extLst>
              <a:ext uri="{FF2B5EF4-FFF2-40B4-BE49-F238E27FC236}">
                <a16:creationId xmlns:a16="http://schemas.microsoft.com/office/drawing/2014/main" id="{0A4D0CF4-3C00-585D-4EC2-396FAF2C13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93196" y="100178"/>
            <a:ext cx="1011541" cy="1011541"/>
          </a:xfrm>
          <a:prstGeom prst="rect">
            <a:avLst/>
          </a:prstGeom>
        </p:spPr>
      </p:pic>
      <p:pic>
        <p:nvPicPr>
          <p:cNvPr id="20" name="Picture 19" descr="A close-up of a map&#10;&#10;AI-generated content may be incorrect.">
            <a:extLst>
              <a:ext uri="{FF2B5EF4-FFF2-40B4-BE49-F238E27FC236}">
                <a16:creationId xmlns:a16="http://schemas.microsoft.com/office/drawing/2014/main" id="{E631FF16-9B4E-0AE3-2B96-6C2E66EECE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24" t="26783" r="51037" b="15849"/>
          <a:stretch>
            <a:fillRect/>
          </a:stretch>
        </p:blipFill>
        <p:spPr>
          <a:xfrm>
            <a:off x="7517252" y="1082194"/>
            <a:ext cx="3345136" cy="2508089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21" name="Picture 20" descr="A close-up of a map&#10;&#10;AI-generated content may be incorrect.">
            <a:extLst>
              <a:ext uri="{FF2B5EF4-FFF2-40B4-BE49-F238E27FC236}">
                <a16:creationId xmlns:a16="http://schemas.microsoft.com/office/drawing/2014/main" id="{3708D5B9-0BB2-D178-753E-608874F6AD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103" t="28440" r="5679" b="17006"/>
          <a:stretch>
            <a:fillRect/>
          </a:stretch>
        </p:blipFill>
        <p:spPr>
          <a:xfrm>
            <a:off x="7512074" y="3753258"/>
            <a:ext cx="3359939" cy="2442202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2E3D7DC-AFA2-3A4B-FA4B-40A875C5457A}"/>
              </a:ext>
            </a:extLst>
          </p:cNvPr>
          <p:cNvSpPr txBox="1"/>
          <p:nvPr/>
        </p:nvSpPr>
        <p:spPr>
          <a:xfrm rot="5400000">
            <a:off x="9717271" y="4605924"/>
            <a:ext cx="29838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buClr>
                <a:schemeClr val="bg1"/>
              </a:buClr>
              <a:buSzPct val="120000"/>
            </a:pPr>
            <a:r>
              <a:rPr lang="bg-BG" sz="1600" b="1" dirty="0">
                <a:solidFill>
                  <a:schemeClr val="bg1"/>
                </a:solidFill>
                <a:latin typeface="Montserrat" panose="00000500000000000000" pitchFamily="2" charset="0"/>
              </a:rPr>
              <a:t>С </a:t>
            </a:r>
            <a:r>
              <a:rPr lang="en-US" sz="1600" b="1" dirty="0">
                <a:solidFill>
                  <a:schemeClr val="bg1"/>
                </a:solidFill>
                <a:latin typeface="Montserrat" panose="00000500000000000000" pitchFamily="2" charset="0"/>
              </a:rPr>
              <a:t>Gradient clipping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0510F3-BC1F-61C7-E2DB-3D5AB6074F23}"/>
              </a:ext>
            </a:extLst>
          </p:cNvPr>
          <p:cNvSpPr txBox="1"/>
          <p:nvPr/>
        </p:nvSpPr>
        <p:spPr>
          <a:xfrm rot="5400000">
            <a:off x="9717270" y="1919333"/>
            <a:ext cx="29838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>
              <a:buClr>
                <a:schemeClr val="bg1"/>
              </a:buClr>
              <a:buSzPct val="120000"/>
            </a:pPr>
            <a:r>
              <a:rPr lang="bg-BG" sz="1600" b="1" dirty="0">
                <a:solidFill>
                  <a:schemeClr val="bg1"/>
                </a:solidFill>
                <a:latin typeface="Montserrat" panose="00000500000000000000" pitchFamily="2" charset="0"/>
              </a:rPr>
              <a:t>Без </a:t>
            </a:r>
            <a:r>
              <a:rPr lang="en-US" sz="1600" b="1" dirty="0">
                <a:solidFill>
                  <a:schemeClr val="bg1"/>
                </a:solidFill>
                <a:latin typeface="Montserrat" panose="00000500000000000000" pitchFamily="2" charset="0"/>
              </a:rPr>
              <a:t>Gradient clipping</a:t>
            </a:r>
          </a:p>
        </p:txBody>
      </p:sp>
    </p:spTree>
    <p:extLst>
      <p:ext uri="{BB962C8B-B14F-4D97-AF65-F5344CB8AC3E}">
        <p14:creationId xmlns:p14="http://schemas.microsoft.com/office/powerpoint/2010/main" val="32082448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55321-0B10-E1D4-E5EB-E17E3A265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3F265F-5854-6CC8-5F95-641F9CFA3B98}"/>
              </a:ext>
            </a:extLst>
          </p:cNvPr>
          <p:cNvSpPr txBox="1"/>
          <p:nvPr/>
        </p:nvSpPr>
        <p:spPr>
          <a:xfrm>
            <a:off x="91124" y="76732"/>
            <a:ext cx="105800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Бъдещи</a:t>
            </a:r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 </a:t>
            </a:r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Планове</a:t>
            </a:r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 &amp; </a:t>
            </a:r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Значимост</a:t>
            </a:r>
            <a:endParaRPr lang="en-US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07383-DCF4-5A9E-536B-F8217B2DFC15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8/10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09E1F1-358A-BB2D-F051-A362601836E1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Graphic 4">
            <a:extLst>
              <a:ext uri="{FF2B5EF4-FFF2-40B4-BE49-F238E27FC236}">
                <a16:creationId xmlns:a16="http://schemas.microsoft.com/office/drawing/2014/main" id="{ADD3FFBA-BA94-B92F-2A2A-F1DCCC15C7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1648" y="0"/>
            <a:ext cx="6188703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165C7E-E799-D8A8-CC4A-742BEB308F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7497" y="-1253765"/>
            <a:ext cx="6188703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631201EF-B092-0942-839B-26A501E13317}"/>
              </a:ext>
            </a:extLst>
          </p:cNvPr>
          <p:cNvGrpSpPr/>
          <p:nvPr/>
        </p:nvGrpSpPr>
        <p:grpSpPr>
          <a:xfrm>
            <a:off x="-19050" y="1958845"/>
            <a:ext cx="4980952" cy="4445765"/>
            <a:chOff x="0" y="1958845"/>
            <a:chExt cx="4980952" cy="444576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AA64729-2729-E6EE-20BB-86FCDB449D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3309372"/>
              <a:ext cx="4980952" cy="3095238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BBAFFF08-B6C8-0C7C-6BDF-A5632AF11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57" y="1958845"/>
              <a:ext cx="2600000" cy="1885714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F9AB5AD-C2ED-18D2-0A2E-2F90E9E2ABEC}"/>
              </a:ext>
            </a:extLst>
          </p:cNvPr>
          <p:cNvGrpSpPr/>
          <p:nvPr/>
        </p:nvGrpSpPr>
        <p:grpSpPr>
          <a:xfrm flipH="1">
            <a:off x="7259825" y="1966327"/>
            <a:ext cx="4980952" cy="4445765"/>
            <a:chOff x="0" y="1958845"/>
            <a:chExt cx="4980952" cy="444576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EB6D4A8-B298-6828-3BE4-C0DE92B007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0" y="3309372"/>
              <a:ext cx="4980952" cy="3095238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FA9DED5-21F6-A337-0D01-B2708D8BA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57" y="1958845"/>
              <a:ext cx="2600000" cy="1885714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7D2219A-2990-DA0E-D9DA-CCFAF5E5D6D2}"/>
              </a:ext>
            </a:extLst>
          </p:cNvPr>
          <p:cNvSpPr txBox="1"/>
          <p:nvPr/>
        </p:nvSpPr>
        <p:spPr>
          <a:xfrm>
            <a:off x="91125" y="1250397"/>
            <a:ext cx="893975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Математически изследвания: завършена научна статия за невронни мрежи, които решават квадратни уравнения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Още по-добро разпознаване: обогатяване на данните и усъвършенстване на техниките за по-висока точност при класификация на цифри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Ускорение чрез </a:t>
            </a:r>
            <a:r>
              <a:rPr lang="en-US" sz="2400" dirty="0">
                <a:solidFill>
                  <a:schemeClr val="bg1"/>
                </a:solidFill>
                <a:latin typeface="Montserrat" panose="00000500000000000000" pitchFamily="2" charset="0"/>
              </a:rPr>
              <a:t>GPU: </a:t>
            </a:r>
            <a:r>
              <a:rPr lang="bg-BG" sz="2400" dirty="0">
                <a:solidFill>
                  <a:schemeClr val="bg1"/>
                </a:solidFill>
                <a:latin typeface="Montserrat" panose="00000500000000000000" pitchFamily="2" charset="0"/>
              </a:rPr>
              <a:t>за по-скоростна работа обработка на големи обеми данни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endParaRPr lang="en-US" sz="16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Образователен ресурс</a:t>
            </a:r>
            <a:endParaRPr lang="en-US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B0934583-3B57-D439-632B-BB0BD144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87892" y="-95548"/>
            <a:ext cx="2161050" cy="216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960D39B-54A9-76E5-4AD4-D4F69FA927B8}"/>
                  </a:ext>
                </a:extLst>
              </p:cNvPr>
              <p:cNvSpPr txBox="1"/>
              <p:nvPr/>
            </p:nvSpPr>
            <p:spPr>
              <a:xfrm>
                <a:off x="6000322" y="2218182"/>
                <a:ext cx="2073529" cy="5870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±</m:t>
                          </m:r>
                          <m:rad>
                            <m:radPr>
                              <m:degHide m:val="on"/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p>
                                  <m:r>
                                    <a:rPr lang="en-US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−4</m:t>
                              </m:r>
                              <m: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𝑎𝑐</m:t>
                              </m:r>
                            </m:e>
                          </m:rad>
                        </m:num>
                        <m:den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960D39B-54A9-76E5-4AD4-D4F69FA92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0322" y="2218182"/>
                <a:ext cx="2073529" cy="587058"/>
              </a:xfrm>
              <a:prstGeom prst="rect">
                <a:avLst/>
              </a:prstGeom>
              <a:blipFill>
                <a:blip r:embed="rId8"/>
                <a:stretch>
                  <a:fillRect l="-1829" r="-2439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7978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651CE-39D7-A105-5EEF-AED97F7BF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 descr="High resolution abstract digital background with connected white dots and multicolor light effects on black background">
            <a:extLst>
              <a:ext uri="{FF2B5EF4-FFF2-40B4-BE49-F238E27FC236}">
                <a16:creationId xmlns:a16="http://schemas.microsoft.com/office/drawing/2014/main" id="{47E619C3-2E5E-6FFD-2438-570D3CB917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33"/>
          <a:stretch/>
        </p:blipFill>
        <p:spPr bwMode="auto">
          <a:xfrm rot="4230197" flipH="1">
            <a:off x="8701876" y="65715"/>
            <a:ext cx="2553258" cy="3653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628755-65BA-DD6E-C74F-1673BE5799ED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9/10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AC18E02-D78F-5FA1-48E1-1A5CCAFFC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1648" y="0"/>
            <a:ext cx="6188703" cy="685800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36CBB482-CF4E-95C3-3513-3A30621CEF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37497" y="-1253765"/>
            <a:ext cx="6188703" cy="6858000"/>
          </a:xfrm>
          <a:prstGeom prst="rect">
            <a:avLst/>
          </a:prstGeom>
        </p:spPr>
      </p:pic>
      <p:pic>
        <p:nvPicPr>
          <p:cNvPr id="15" name="Picture 2" descr="High resolution abstract digital background with connected white dots and multicolor light effects on black background">
            <a:extLst>
              <a:ext uri="{FF2B5EF4-FFF2-40B4-BE49-F238E27FC236}">
                <a16:creationId xmlns:a16="http://schemas.microsoft.com/office/drawing/2014/main" id="{92B5975D-9837-71DA-536E-1FE2BA5458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433"/>
          <a:stretch/>
        </p:blipFill>
        <p:spPr bwMode="auto">
          <a:xfrm rot="16508661" flipH="1">
            <a:off x="830915" y="2805991"/>
            <a:ext cx="2463336" cy="3524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2C45289-90D8-241A-C63E-D81224A4354F}"/>
              </a:ext>
            </a:extLst>
          </p:cNvPr>
          <p:cNvGrpSpPr/>
          <p:nvPr/>
        </p:nvGrpSpPr>
        <p:grpSpPr>
          <a:xfrm>
            <a:off x="805990" y="1352510"/>
            <a:ext cx="10580017" cy="3323987"/>
            <a:chOff x="805990" y="1523910"/>
            <a:chExt cx="10580017" cy="332398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482FBF-9716-CA59-7608-C317C4C5AF8C}"/>
                </a:ext>
              </a:extLst>
            </p:cNvPr>
            <p:cNvSpPr txBox="1"/>
            <p:nvPr/>
          </p:nvSpPr>
          <p:spPr>
            <a:xfrm>
              <a:off x="805990" y="1523910"/>
              <a:ext cx="1058001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bg-BG" sz="7200" b="1" dirty="0">
                  <a:solidFill>
                    <a:schemeClr val="bg1"/>
                  </a:solidFill>
                  <a:latin typeface="Montserrat" panose="00000500000000000000" pitchFamily="2" charset="0"/>
                </a:rPr>
                <a:t>ДЕМОНСТРАЦИЯ</a:t>
              </a:r>
              <a:endParaRPr lang="en-US" sz="7200" b="1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E283427-CC39-D6B5-4C8D-FC9E0733A5B2}"/>
                </a:ext>
              </a:extLst>
            </p:cNvPr>
            <p:cNvSpPr txBox="1"/>
            <p:nvPr/>
          </p:nvSpPr>
          <p:spPr>
            <a:xfrm>
              <a:off x="1247775" y="2724239"/>
              <a:ext cx="9278425" cy="2123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i="0" dirty="0">
                  <a:solidFill>
                    <a:schemeClr val="bg1"/>
                  </a:solidFill>
                  <a:effectLst/>
                  <a:latin typeface="Montserrat" panose="00000500000000000000" pitchFamily="2" charset="0"/>
                </a:rPr>
                <a:t>Разпознаване на нарисувани цифри</a:t>
              </a:r>
              <a:endParaRPr lang="en-US" sz="24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en-US" sz="12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Визуализация на невронна мрежа</a:t>
              </a:r>
              <a:endParaRPr lang="en-US" sz="24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bg-BG" sz="12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Универсално разпознаване на символи  </a:t>
              </a:r>
              <a:endParaRPr lang="en-US" sz="24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endParaRPr lang="en-US" sz="12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marL="914400" lvl="1" indent="-457200">
                <a:buClr>
                  <a:schemeClr val="bg1"/>
                </a:buClr>
                <a:buSzPct val="120000"/>
                <a:buFont typeface="System Font Regular"/>
                <a:buChar char="→"/>
              </a:pPr>
              <a:r>
                <a:rPr lang="bg-BG" sz="2400" dirty="0">
                  <a:solidFill>
                    <a:schemeClr val="bg1"/>
                  </a:solidFill>
                  <a:latin typeface="Montserrat" panose="00000500000000000000" pitchFamily="2" charset="0"/>
                </a:rPr>
                <a:t>Платформа за решаване на квадратни уравнения</a:t>
              </a:r>
              <a:endParaRPr lang="en-US" sz="24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</p:grpSp>
      <p:pic>
        <p:nvPicPr>
          <p:cNvPr id="4" name="Picture 3" descr="A blue and green connected circles&#10;&#10;AI-generated content may be incorrect.">
            <a:extLst>
              <a:ext uri="{FF2B5EF4-FFF2-40B4-BE49-F238E27FC236}">
                <a16:creationId xmlns:a16="http://schemas.microsoft.com/office/drawing/2014/main" id="{8959D21F-C9F9-1924-0816-344796C5A6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575" y="338896"/>
            <a:ext cx="1243757" cy="93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167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CF3F9-E788-926E-F039-8C2A7F95C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igh resolution abstract digital background with connected white dots and multicolor light effects on black background">
            <a:extLst>
              <a:ext uri="{FF2B5EF4-FFF2-40B4-BE49-F238E27FC236}">
                <a16:creationId xmlns:a16="http://schemas.microsoft.com/office/drawing/2014/main" id="{375B95E1-4BC3-4368-89B8-6238E9E5B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0730" y="0"/>
            <a:ext cx="9030878" cy="6404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61E97B-5828-ADFA-138A-E515395836A3}"/>
              </a:ext>
            </a:extLst>
          </p:cNvPr>
          <p:cNvSpPr txBox="1"/>
          <p:nvPr/>
        </p:nvSpPr>
        <p:spPr>
          <a:xfrm>
            <a:off x="91125" y="76732"/>
            <a:ext cx="562151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Благодарности</a:t>
            </a:r>
            <a:endParaRPr lang="en-US" sz="36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75F0D6A-9C67-E74E-FF95-8B0B594065AE}"/>
              </a:ext>
            </a:extLst>
          </p:cNvPr>
          <p:cNvCxnSpPr/>
          <p:nvPr/>
        </p:nvCxnSpPr>
        <p:spPr>
          <a:xfrm>
            <a:off x="0" y="869783"/>
            <a:ext cx="12192000" cy="0"/>
          </a:xfrm>
          <a:prstGeom prst="line">
            <a:avLst/>
          </a:prstGeom>
          <a:ln w="31750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3A9DDD0-7ADA-50E7-F142-9B3B7E7BAFD7}"/>
              </a:ext>
            </a:extLst>
          </p:cNvPr>
          <p:cNvSpPr txBox="1"/>
          <p:nvPr/>
        </p:nvSpPr>
        <p:spPr>
          <a:xfrm>
            <a:off x="10671142" y="6404610"/>
            <a:ext cx="1520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10/10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08318-7998-71E6-5F89-12CCFB44C9DD}"/>
              </a:ext>
            </a:extLst>
          </p:cNvPr>
          <p:cNvSpPr txBox="1"/>
          <p:nvPr/>
        </p:nvSpPr>
        <p:spPr>
          <a:xfrm>
            <a:off x="226243" y="1757827"/>
            <a:ext cx="9030878" cy="3716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l">
              <a:buClr>
                <a:schemeClr val="bg1"/>
              </a:buClr>
              <a:buSzPct val="120000"/>
              <a:buFont typeface="System Font Regular"/>
              <a:buChar char="→"/>
            </a:pPr>
            <a:r>
              <a:rPr lang="bg-BG" sz="3000" b="1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 Емил Келеведжиев </a:t>
            </a:r>
            <a:r>
              <a:rPr lang="bg-BG" sz="300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за:</a:t>
            </a:r>
            <a:endParaRPr lang="en-US" sz="300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algn="l">
              <a:buClr>
                <a:schemeClr val="bg1"/>
              </a:buClr>
              <a:buSzPct val="120000"/>
            </a:pPr>
            <a:endParaRPr lang="en-US" sz="3000" b="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lnSpc>
                <a:spcPct val="150000"/>
              </a:lnSpc>
              <a:buClr>
                <a:schemeClr val="bg1"/>
              </a:buClr>
              <a:buSzPct val="120000"/>
              <a:buFont typeface="Arial" panose="020B0604020202020204" pitchFamily="34" charset="0"/>
              <a:buChar char="•"/>
            </a:pPr>
            <a:r>
              <a:rPr lang="bg-BG" sz="3000" b="0" i="0" dirty="0">
                <a:solidFill>
                  <a:schemeClr val="bg1"/>
                </a:solidFill>
                <a:effectLst/>
                <a:latin typeface="Montserrat" panose="00000500000000000000" pitchFamily="2" charset="0"/>
              </a:rPr>
              <a:t>Направления и подкрепа</a:t>
            </a:r>
            <a:endParaRPr lang="en-US" sz="600" b="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lnSpc>
                <a:spcPct val="150000"/>
              </a:lnSpc>
              <a:buClr>
                <a:schemeClr val="bg1"/>
              </a:buClr>
              <a:buSzPct val="120000"/>
              <a:buFont typeface="Arial" panose="020B0604020202020204" pitchFamily="34" charset="0"/>
              <a:buChar char="•"/>
            </a:pPr>
            <a:endParaRPr lang="en-US" sz="100" b="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lnSpc>
                <a:spcPct val="150000"/>
              </a:lnSpc>
              <a:buClr>
                <a:schemeClr val="bg1"/>
              </a:buClr>
              <a:buSzPct val="120000"/>
              <a:buFont typeface="Arial" panose="020B0604020202020204" pitchFamily="34" charset="0"/>
              <a:buChar char="•"/>
            </a:pPr>
            <a:r>
              <a:rPr lang="bg-BG" sz="3000" dirty="0">
                <a:solidFill>
                  <a:schemeClr val="bg1"/>
                </a:solidFill>
                <a:latin typeface="Montserrat" panose="00000500000000000000" pitchFamily="2" charset="0"/>
              </a:rPr>
              <a:t>Осигуряване на  ценни ресурси</a:t>
            </a:r>
            <a:endParaRPr lang="en-US" sz="600" b="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914400" lvl="1" indent="-457200">
              <a:lnSpc>
                <a:spcPct val="150000"/>
              </a:lnSpc>
              <a:buClr>
                <a:schemeClr val="bg1"/>
              </a:buClr>
              <a:buSzPct val="120000"/>
              <a:buFont typeface="Arial" panose="020B0604020202020204" pitchFamily="34" charset="0"/>
              <a:buChar char="•"/>
            </a:pPr>
            <a:r>
              <a:rPr lang="bg-BG" sz="3000" dirty="0">
                <a:solidFill>
                  <a:schemeClr val="bg1"/>
                </a:solidFill>
                <a:latin typeface="Montserrat" panose="00000500000000000000" pitchFamily="2" charset="0"/>
              </a:rPr>
              <a:t>Експертно ръководство и насоки</a:t>
            </a:r>
            <a:endParaRPr lang="en-US" sz="600" b="0" i="0" dirty="0">
              <a:solidFill>
                <a:schemeClr val="bg1"/>
              </a:solidFill>
              <a:effectLst/>
              <a:latin typeface="Montserrat" panose="00000500000000000000" pitchFamily="2" charset="0"/>
            </a:endParaRPr>
          </a:p>
          <a:p>
            <a:pPr marL="457200" indent="-457200">
              <a:buClr>
                <a:schemeClr val="bg1"/>
              </a:buClr>
              <a:buSzPct val="120000"/>
              <a:buFont typeface="Arial" panose="020B0604020202020204" pitchFamily="34" charset="0"/>
              <a:buChar char="•"/>
            </a:pPr>
            <a:endParaRPr lang="en-US" sz="30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42299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6" name="Picture 6">
            <a:extLst>
              <a:ext uri="{FF2B5EF4-FFF2-40B4-BE49-F238E27FC236}">
                <a16:creationId xmlns:a16="http://schemas.microsoft.com/office/drawing/2014/main" id="{ED79B024-EE75-7E19-3D7C-2726FB3FEF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412"/>
          <a:stretch/>
        </p:blipFill>
        <p:spPr bwMode="auto">
          <a:xfrm>
            <a:off x="0" y="0"/>
            <a:ext cx="4826524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E89CEE5-3F65-1D54-F4CC-CD2552F5EEEC}"/>
              </a:ext>
            </a:extLst>
          </p:cNvPr>
          <p:cNvSpPr txBox="1"/>
          <p:nvPr/>
        </p:nvSpPr>
        <p:spPr>
          <a:xfrm>
            <a:off x="4685122" y="1701489"/>
            <a:ext cx="72869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9000" b="1" dirty="0">
                <a:latin typeface="Montserrat" panose="00000500000000000000" pitchFamily="2" charset="0"/>
              </a:rPr>
              <a:t>Благодаря</a:t>
            </a:r>
            <a:r>
              <a:rPr lang="en-US" sz="9000" b="1" dirty="0">
                <a:latin typeface="Montserrat" panose="00000500000000000000" pitchFamily="2" charset="0"/>
              </a:rPr>
              <a:t>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EB860D-1CF7-FE0C-DB16-6355B976654D}"/>
              </a:ext>
            </a:extLst>
          </p:cNvPr>
          <p:cNvSpPr txBox="1"/>
          <p:nvPr/>
        </p:nvSpPr>
        <p:spPr>
          <a:xfrm>
            <a:off x="5158031" y="3379460"/>
            <a:ext cx="64196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dirty="0">
                <a:latin typeface="Montserrat" panose="00000500000000000000" pitchFamily="2" charset="0"/>
              </a:rPr>
              <a:t>Автор</a:t>
            </a:r>
            <a:r>
              <a:rPr lang="en-US" sz="2800" dirty="0">
                <a:latin typeface="Montserrat" panose="00000500000000000000" pitchFamily="2" charset="0"/>
              </a:rPr>
              <a:t>: </a:t>
            </a:r>
          </a:p>
          <a:p>
            <a:pPr algn="ctr"/>
            <a:r>
              <a:rPr lang="en-US" sz="2800" dirty="0">
                <a:latin typeface="Montserrat" panose="00000500000000000000" pitchFamily="2" charset="0"/>
              </a:rPr>
              <a:t>Matt Minev</a:t>
            </a:r>
          </a:p>
          <a:p>
            <a:pPr algn="ctr"/>
            <a:endParaRPr lang="bg-BG" sz="2800" dirty="0">
              <a:latin typeface="Montserrat" panose="00000500000000000000" pitchFamily="2" charset="0"/>
            </a:endParaRPr>
          </a:p>
          <a:p>
            <a:pPr algn="ctr"/>
            <a:r>
              <a:rPr lang="bg-BG" sz="2800" dirty="0">
                <a:latin typeface="Montserrat" panose="00000500000000000000" pitchFamily="2" charset="0"/>
              </a:rPr>
              <a:t>Ученическа Научна Сесия </a:t>
            </a:r>
          </a:p>
          <a:p>
            <a:pPr algn="ctr"/>
            <a:r>
              <a:rPr lang="bg-BG" sz="2800" dirty="0">
                <a:latin typeface="Montserrat" panose="00000500000000000000" pitchFamily="2" charset="0"/>
              </a:rPr>
              <a:t>на </a:t>
            </a:r>
            <a:r>
              <a:rPr lang="bg-BG" sz="2800" dirty="0" err="1">
                <a:latin typeface="Montserrat" panose="00000500000000000000" pitchFamily="2" charset="0"/>
              </a:rPr>
              <a:t>УчИ</a:t>
            </a:r>
            <a:r>
              <a:rPr lang="bg-BG" sz="2800" dirty="0">
                <a:latin typeface="Montserrat" panose="00000500000000000000" pitchFamily="2" charset="0"/>
              </a:rPr>
              <a:t>-БАН, 2025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363DF8-A4F2-71CB-43CD-B166F582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8814" y="185926"/>
            <a:ext cx="1520937" cy="151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112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1140</TotalTime>
  <Words>513</Words>
  <Application>Microsoft Macintosh PowerPoint</Application>
  <PresentationFormat>Widescreen</PresentationFormat>
  <Paragraphs>135</Paragraphs>
  <Slides>12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Montserrat</vt:lpstr>
      <vt:lpstr>Montserrat Medium</vt:lpstr>
      <vt:lpstr>System Font 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Masterality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</dc:creator>
  <cp:lastModifiedBy>Matt Minev</cp:lastModifiedBy>
  <cp:revision>101</cp:revision>
  <dcterms:created xsi:type="dcterms:W3CDTF">2025-07-24T07:24:35Z</dcterms:created>
  <dcterms:modified xsi:type="dcterms:W3CDTF">2025-11-15T02:40:36Z</dcterms:modified>
</cp:coreProperties>
</file>